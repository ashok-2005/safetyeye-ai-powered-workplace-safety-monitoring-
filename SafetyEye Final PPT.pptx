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58" r:id="rId5"/>
    <p:sldId id="259" r:id="rId6"/>
    <p:sldId id="260" r:id="rId7"/>
    <p:sldId id="261" r:id="rId8"/>
    <p:sldId id="273" r:id="rId9"/>
    <p:sldId id="262" r:id="rId10"/>
    <p:sldId id="264" r:id="rId11"/>
    <p:sldId id="265" r:id="rId12"/>
    <p:sldId id="263" r:id="rId13"/>
    <p:sldId id="275" r:id="rId14"/>
    <p:sldId id="266" r:id="rId15"/>
    <p:sldId id="276" r:id="rId16"/>
    <p:sldId id="267" r:id="rId17"/>
    <p:sldId id="268" r:id="rId18"/>
    <p:sldId id="269" r:id="rId19"/>
    <p:sldId id="271" r:id="rId20"/>
    <p:sldId id="27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324" y="-6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CE89DB6-2723-4ABE-B787-CDEBAF3B0753}" type="datetimeFigureOut">
              <a:rPr lang="en-US" smtClean="0"/>
              <a:pPr/>
              <a:t>25-Nov-25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E89DB6-2723-4ABE-B787-CDEBAF3B0753}" type="datetimeFigureOut">
              <a:rPr lang="en-US" smtClean="0"/>
              <a:pPr/>
              <a:t>25-Nov-25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CE89DB6-2723-4ABE-B787-CDEBAF3B0753}" type="datetimeFigureOut">
              <a:rPr lang="en-US" smtClean="0"/>
              <a:pPr/>
              <a:t>25-Nov-25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CE89DB6-2723-4ABE-B787-CDEBAF3B0753}" type="datetimeFigureOut">
              <a:rPr lang="en-US" smtClean="0"/>
              <a:pPr/>
              <a:t>25-Nov-25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CE89DB6-2723-4ABE-B787-CDEBAF3B0753}" type="datetimeFigureOut">
              <a:rPr lang="en-US" smtClean="0"/>
              <a:pPr/>
              <a:t>25-Nov-25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CE89DB6-2723-4ABE-B787-CDEBAF3B0753}" type="datetimeFigureOut">
              <a:rPr lang="en-US" smtClean="0"/>
              <a:pPr/>
              <a:t>25-Nov-25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E89DB6-2723-4ABE-B787-CDEBAF3B0753}" type="datetimeFigureOut">
              <a:rPr lang="en-US" smtClean="0"/>
              <a:pPr/>
              <a:t>25-Nov-25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E89DB6-2723-4ABE-B787-CDEBAF3B0753}" type="datetimeFigureOut">
              <a:rPr lang="en-US" smtClean="0"/>
              <a:pPr/>
              <a:t>25-Nov-25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E89DB6-2723-4ABE-B787-CDEBAF3B0753}" type="datetimeFigureOut">
              <a:rPr lang="en-US" smtClean="0"/>
              <a:pPr/>
              <a:t>25-Nov-25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E89DB6-2723-4ABE-B787-CDEBAF3B0753}" type="datetimeFigureOut">
              <a:rPr lang="en-US" smtClean="0"/>
              <a:pPr/>
              <a:t>25-Nov-25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E89DB6-2723-4ABE-B787-CDEBAF3B0753}" type="datetimeFigureOut">
              <a:rPr lang="en-US" smtClean="0"/>
              <a:pPr/>
              <a:t>25-Nov-25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7774CD-FEBF-4173-A3D3-02DC46B4521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E89DB6-2723-4ABE-B787-CDEBAF3B0753}" type="datetimeFigureOut">
              <a:rPr lang="en-US" smtClean="0"/>
              <a:pPr/>
              <a:t>25-Nov-25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7774CD-FEBF-4173-A3D3-02DC46B4521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kaggle.com/datasets/snehilsanyal/construction-site-safety-image-dataset-roboflow"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093893"/>
            <a:ext cx="8534400" cy="1200329"/>
          </a:xfrm>
          <a:prstGeom prst="rect">
            <a:avLst/>
          </a:prstGeom>
        </p:spPr>
        <p:txBody>
          <a:bodyPr wrap="square">
            <a:spAutoFit/>
          </a:bodyPr>
          <a:lstStyle/>
          <a:p>
            <a:pPr algn="ctr"/>
            <a:r>
              <a:rPr lang="en-US" sz="3600" dirty="0" err="1" smtClean="0">
                <a:latin typeface="Times New Roman" pitchFamily="18" charset="0"/>
                <a:cs typeface="Times New Roman" pitchFamily="18" charset="0"/>
              </a:rPr>
              <a:t>SafetyEye</a:t>
            </a:r>
            <a:r>
              <a:rPr lang="en-US" sz="3600" dirty="0" smtClean="0">
                <a:latin typeface="Times New Roman" pitchFamily="18" charset="0"/>
                <a:cs typeface="Times New Roman" pitchFamily="18" charset="0"/>
              </a:rPr>
              <a:t> – AI-Powered Workplace </a:t>
            </a:r>
          </a:p>
          <a:p>
            <a:pPr algn="ctr"/>
            <a:r>
              <a:rPr lang="en-US" sz="3600" dirty="0" smtClean="0">
                <a:latin typeface="Times New Roman" pitchFamily="18" charset="0"/>
                <a:cs typeface="Times New Roman" pitchFamily="18" charset="0"/>
              </a:rPr>
              <a:t>Occupancy &amp; Safety Monitor</a:t>
            </a:r>
            <a:endParaRPr lang="en-US" sz="36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914400"/>
            <a:ext cx="6705600" cy="4585871"/>
          </a:xfrm>
          <a:prstGeom prst="rect">
            <a:avLst/>
          </a:prstGeom>
        </p:spPr>
        <p:txBody>
          <a:bodyPr wrap="square">
            <a:spAutoFit/>
          </a:bodyPr>
          <a:lstStyle/>
          <a:p>
            <a:r>
              <a:rPr lang="en-US" sz="2000" b="1" dirty="0" smtClean="0">
                <a:latin typeface="Times New Roman" pitchFamily="18" charset="0"/>
                <a:cs typeface="Times New Roman" pitchFamily="18" charset="0"/>
              </a:rPr>
              <a:t>TABLE OF CONTENTS</a:t>
            </a:r>
          </a:p>
          <a:p>
            <a:endParaRPr lang="en-US" sz="2000" b="1"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INTRODUCTION </a:t>
            </a:r>
          </a:p>
          <a:p>
            <a:pPr>
              <a:buFont typeface="Arial" pitchFamily="34" charset="0"/>
              <a:buChar char="•"/>
            </a:pPr>
            <a:r>
              <a:rPr lang="en-US" dirty="0" smtClean="0">
                <a:latin typeface="Times New Roman" pitchFamily="18" charset="0"/>
                <a:cs typeface="Times New Roman" pitchFamily="18" charset="0"/>
              </a:rPr>
              <a:t> OBJECTIVE &amp; OUTCOMES</a:t>
            </a:r>
          </a:p>
          <a:p>
            <a:pPr>
              <a:buFont typeface="Arial" pitchFamily="34" charset="0"/>
              <a:buChar char="•"/>
            </a:pPr>
            <a:r>
              <a:rPr lang="en-US" dirty="0" smtClean="0">
                <a:latin typeface="Times New Roman" pitchFamily="18" charset="0"/>
                <a:cs typeface="Times New Roman" pitchFamily="18" charset="0"/>
              </a:rPr>
              <a:t> DATASET OVERVIEW AND KEY INSIGHTS</a:t>
            </a:r>
          </a:p>
          <a:p>
            <a:pPr>
              <a:buFont typeface="Arial" pitchFamily="34" charset="0"/>
              <a:buChar char="•"/>
            </a:pPr>
            <a:r>
              <a:rPr lang="en-US" dirty="0" smtClean="0">
                <a:latin typeface="Times New Roman" pitchFamily="18" charset="0"/>
                <a:cs typeface="Times New Roman" pitchFamily="18" charset="0"/>
              </a:rPr>
              <a:t> METHODOLOGY</a:t>
            </a:r>
          </a:p>
          <a:p>
            <a:pPr>
              <a:buFont typeface="Arial" pitchFamily="34" charset="0"/>
              <a:buChar char="•"/>
            </a:pPr>
            <a:r>
              <a:rPr lang="en-US" dirty="0" smtClean="0">
                <a:latin typeface="Times New Roman" pitchFamily="18" charset="0"/>
                <a:cs typeface="Times New Roman" pitchFamily="18" charset="0"/>
              </a:rPr>
              <a:t> DATA PREPARATION</a:t>
            </a:r>
          </a:p>
          <a:p>
            <a:pPr>
              <a:buFont typeface="Arial" pitchFamily="34" charset="0"/>
              <a:buChar char="•"/>
            </a:pPr>
            <a:r>
              <a:rPr lang="en-US" dirty="0" smtClean="0">
                <a:latin typeface="Times New Roman" pitchFamily="18" charset="0"/>
                <a:cs typeface="Times New Roman" pitchFamily="18" charset="0"/>
              </a:rPr>
              <a:t> RULE &amp; VIOLATION ENGINE</a:t>
            </a:r>
          </a:p>
          <a:p>
            <a:pPr>
              <a:buFont typeface="Arial" pitchFamily="34" charset="0"/>
              <a:buChar char="•"/>
            </a:pPr>
            <a:r>
              <a:rPr lang="en-US" dirty="0" smtClean="0">
                <a:latin typeface="Times New Roman" pitchFamily="18" charset="0"/>
                <a:cs typeface="Times New Roman" pitchFamily="18" charset="0"/>
              </a:rPr>
              <a:t> MODEL </a:t>
            </a:r>
            <a:r>
              <a:rPr lang="en-US" dirty="0" smtClean="0">
                <a:latin typeface="Times New Roman" pitchFamily="18" charset="0"/>
                <a:cs typeface="Times New Roman" pitchFamily="18" charset="0"/>
              </a:rPr>
              <a:t>TRAINING</a:t>
            </a: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TRAINING AND </a:t>
            </a:r>
            <a:r>
              <a:rPr lang="en-US" dirty="0" smtClean="0">
                <a:latin typeface="Times New Roman" pitchFamily="18" charset="0"/>
                <a:cs typeface="Times New Roman" pitchFamily="18" charset="0"/>
              </a:rPr>
              <a:t>EVALUATION</a:t>
            </a:r>
          </a:p>
          <a:p>
            <a:pPr>
              <a:buFont typeface="Arial" pitchFamily="34" charset="0"/>
              <a:buChar char="•"/>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RESULTS</a:t>
            </a:r>
            <a:r>
              <a:rPr lang="en-US" dirty="0" smtClean="0">
                <a:latin typeface="Times New Roman" pitchFamily="18" charset="0"/>
                <a:cs typeface="Times New Roman" pitchFamily="18" charset="0"/>
              </a:rPr>
              <a:t> </a:t>
            </a:r>
          </a:p>
          <a:p>
            <a:pPr>
              <a:buFont typeface="Arial" pitchFamily="34" charset="0"/>
              <a:buChar char="•"/>
            </a:pPr>
            <a:r>
              <a:rPr lang="en-US" dirty="0" smtClean="0">
                <a:latin typeface="Times New Roman" pitchFamily="18" charset="0"/>
                <a:cs typeface="Times New Roman" pitchFamily="18" charset="0"/>
              </a:rPr>
              <a:t>VISUALIZATION</a:t>
            </a: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USER INTERFACE &amp; ALERT SYSTEM</a:t>
            </a:r>
          </a:p>
          <a:p>
            <a:pPr>
              <a:buFont typeface="Arial" pitchFamily="34" charset="0"/>
              <a:buChar char="•"/>
            </a:pPr>
            <a:r>
              <a:rPr lang="en-US" dirty="0" smtClean="0">
                <a:latin typeface="Times New Roman" pitchFamily="18" charset="0"/>
                <a:cs typeface="Times New Roman" pitchFamily="18" charset="0"/>
              </a:rPr>
              <a:t> CHALLENGES</a:t>
            </a:r>
          </a:p>
          <a:p>
            <a:pPr>
              <a:buFont typeface="Arial" pitchFamily="34" charset="0"/>
              <a:buChar char="•"/>
            </a:pPr>
            <a:r>
              <a:rPr lang="en-US" dirty="0" smtClean="0">
                <a:latin typeface="Times New Roman" pitchFamily="18" charset="0"/>
                <a:cs typeface="Times New Roman" pitchFamily="18" charset="0"/>
              </a:rPr>
              <a:t> FUTURE SCOPE</a:t>
            </a:r>
          </a:p>
          <a:p>
            <a:pPr>
              <a:buFont typeface="Arial" pitchFamily="34" charset="0"/>
              <a:buChar char="•"/>
            </a:pPr>
            <a:r>
              <a:rPr lang="en-US" dirty="0" smtClean="0">
                <a:latin typeface="Times New Roman" pitchFamily="18" charset="0"/>
                <a:cs typeface="Times New Roman" pitchFamily="18" charset="0"/>
              </a:rPr>
              <a:t> CONCLUSION</a:t>
            </a:r>
            <a:endParaRPr 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838200"/>
            <a:ext cx="7543800" cy="3693319"/>
          </a:xfrm>
          <a:prstGeom prst="rect">
            <a:avLst/>
          </a:prstGeom>
        </p:spPr>
        <p:txBody>
          <a:bodyPr wrap="square">
            <a:spAutoFit/>
          </a:bodyPr>
          <a:lstStyle/>
          <a:p>
            <a:pPr algn="just"/>
            <a:r>
              <a:rPr lang="en-US" sz="2000" b="1" dirty="0" smtClean="0">
                <a:latin typeface="Times New Roman" pitchFamily="18" charset="0"/>
                <a:cs typeface="Times New Roman" pitchFamily="18" charset="0"/>
              </a:rPr>
              <a:t>INTRODUCTION</a:t>
            </a:r>
          </a:p>
          <a:p>
            <a:pPr algn="just"/>
            <a:endParaRPr lang="en-US" b="1" dirty="0" smtClean="0">
              <a:latin typeface="Times New Roman" pitchFamily="18" charset="0"/>
              <a:cs typeface="Times New Roman" pitchFamily="18" charset="0"/>
            </a:endParaRPr>
          </a:p>
          <a:p>
            <a:pPr algn="just"/>
            <a:r>
              <a:rPr lang="en-US" dirty="0" err="1" smtClean="0">
                <a:latin typeface="Times New Roman" pitchFamily="18" charset="0"/>
                <a:cs typeface="Times New Roman" pitchFamily="18" charset="0"/>
              </a:rPr>
              <a:t>SafetyEye</a:t>
            </a:r>
            <a:r>
              <a:rPr lang="en-US" dirty="0" smtClean="0">
                <a:latin typeface="Times New Roman" pitchFamily="18" charset="0"/>
                <a:cs typeface="Times New Roman" pitchFamily="18" charset="0"/>
              </a:rPr>
              <a:t> is an AI-powered safety monitoring system that helps                industries ensure workers follow safety rules at the workplace.</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It uses CCTV or video feeds along with deep learning (YOLOv8) to detect if workers are wearing required safety equipment like helmets, vests, and masks.</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system can automatically find safety violations, send alerts, and record evidence, helping supervisors take quick action.</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It works in real time, even in different lighting or motion conditions, and aims to make workplaces safer, smarter, and more efficient through AI technology.</a:t>
            </a:r>
            <a:endParaRPr 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8200" y="914400"/>
            <a:ext cx="7543800" cy="4124206"/>
          </a:xfrm>
          <a:prstGeom prst="rect">
            <a:avLst/>
          </a:prstGeom>
        </p:spPr>
        <p:txBody>
          <a:bodyPr wrap="square">
            <a:spAutoFit/>
          </a:bodyPr>
          <a:lstStyle/>
          <a:p>
            <a:r>
              <a:rPr lang="en-US" sz="2000" b="1" dirty="0" smtClean="0">
                <a:latin typeface="Times New Roman" pitchFamily="18" charset="0"/>
                <a:cs typeface="Times New Roman" pitchFamily="18" charset="0"/>
              </a:rPr>
              <a:t>OBJECTIVE</a:t>
            </a:r>
          </a:p>
          <a:p>
            <a:endParaRPr lang="en-US" sz="2000" b="1"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To develop an AI-powered workplace safety monitoring system that can automatically detect Personal Protective Equipment (PPE) compliance and violations such as missing helmets, vests, or masks in real time using YOLOv8 deep learning architecture.</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OUTCOMES</a:t>
            </a:r>
          </a:p>
          <a:p>
            <a:endParaRPr lang="en-US" sz="2000" b="1" dirty="0">
              <a:latin typeface="Times New Roman" pitchFamily="18" charset="0"/>
              <a:cs typeface="Times New Roman" pitchFamily="18" charset="0"/>
            </a:endParaRPr>
          </a:p>
          <a:p>
            <a:pPr marL="112713" indent="-112713" algn="just">
              <a:buFont typeface="Arial" pitchFamily="34" charset="0"/>
              <a:buChar char="•"/>
            </a:pPr>
            <a:r>
              <a:rPr lang="en-US" dirty="0" smtClean="0">
                <a:latin typeface="Times New Roman" pitchFamily="18" charset="0"/>
                <a:cs typeface="Times New Roman" pitchFamily="18" charset="0"/>
              </a:rPr>
              <a:t>An integrated deep learning system capable of PPE detection and violation monitoring.</a:t>
            </a:r>
            <a:endParaRPr lang="en-US" dirty="0">
              <a:latin typeface="Times New Roman" pitchFamily="18" charset="0"/>
              <a:cs typeface="Times New Roman" pitchFamily="18" charset="0"/>
            </a:endParaRPr>
          </a:p>
          <a:p>
            <a:pPr marL="112713" indent="-112713" algn="just">
              <a:buFont typeface="Arial" pitchFamily="34" charset="0"/>
              <a:buChar char="•"/>
            </a:pPr>
            <a:r>
              <a:rPr lang="en-US" dirty="0" smtClean="0">
                <a:latin typeface="Times New Roman" pitchFamily="18" charset="0"/>
                <a:cs typeface="Times New Roman" pitchFamily="18" charset="0"/>
              </a:rPr>
              <a:t>Improved accuracy and reliability under real-world scenarios       (day/night/motion).</a:t>
            </a:r>
            <a:endParaRPr lang="en-US" dirty="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 Automated safety logging and alert system with low-latency performance.</a:t>
            </a:r>
            <a:endParaRPr 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8200" y="838200"/>
            <a:ext cx="7543800" cy="5401479"/>
          </a:xfrm>
          <a:prstGeom prst="rect">
            <a:avLst/>
          </a:prstGeom>
        </p:spPr>
        <p:txBody>
          <a:bodyPr wrap="square">
            <a:spAutoFit/>
          </a:bodyPr>
          <a:lstStyle/>
          <a:p>
            <a:r>
              <a:rPr lang="en-US" sz="2000" b="1" dirty="0" smtClean="0">
                <a:latin typeface="Times New Roman" pitchFamily="18" charset="0"/>
                <a:cs typeface="Times New Roman" pitchFamily="18" charset="0"/>
              </a:rPr>
              <a:t>DATASET OVERVIEW AND KEY INSIGHTS</a:t>
            </a: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Dataset Source: </a:t>
            </a:r>
            <a:r>
              <a:rPr lang="en-US" sz="1600" dirty="0" smtClean="0">
                <a:latin typeface="Times New Roman" pitchFamily="18" charset="0"/>
                <a:cs typeface="Times New Roman" pitchFamily="18" charset="0"/>
              </a:rPr>
              <a:t>[Construction Site Safety Image Dataset </a:t>
            </a:r>
            <a:r>
              <a:rPr lang="en-US" sz="1600" dirty="0" err="1" smtClean="0">
                <a:latin typeface="Times New Roman" pitchFamily="18" charset="0"/>
                <a:cs typeface="Times New Roman" pitchFamily="18" charset="0"/>
              </a:rPr>
              <a:t>Roboflow</a:t>
            </a:r>
            <a:r>
              <a:rPr lang="en-US" sz="1600" dirty="0" smtClean="0">
                <a:latin typeface="Times New Roman" pitchFamily="18" charset="0"/>
                <a:cs typeface="Times New Roman" pitchFamily="18" charset="0"/>
              </a:rPr>
              <a:t>]</a:t>
            </a:r>
          </a:p>
          <a:p>
            <a:r>
              <a:rPr lang="en-US" sz="1600"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hlinkClick r:id="rId2"/>
              </a:rPr>
              <a:t>https://www.kaggle.com/datasets/snehilsanyal/construction-site-safety-image-dataset-roboflow</a:t>
            </a:r>
            <a:r>
              <a:rPr lang="en-US" sz="1600" dirty="0" smtClean="0">
                <a:latin typeface="Times New Roman" pitchFamily="18" charset="0"/>
                <a:cs typeface="Times New Roman" pitchFamily="18" charset="0"/>
              </a:rPr>
              <a:t>)</a:t>
            </a:r>
          </a:p>
          <a:p>
            <a:endParaRPr lang="en-US" sz="8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Format:</a:t>
            </a:r>
            <a:r>
              <a:rPr lang="en-US" sz="1600" dirty="0" smtClean="0">
                <a:latin typeface="Times New Roman" pitchFamily="18" charset="0"/>
                <a:cs typeface="Times New Roman" pitchFamily="18" charset="0"/>
              </a:rPr>
              <a:t> YOLO (Images + Labels)</a:t>
            </a:r>
          </a:p>
          <a:p>
            <a:endParaRPr lang="en-US" sz="800" b="1"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Total Images:</a:t>
            </a:r>
            <a:r>
              <a:rPr lang="en-US" sz="1600" dirty="0" smtClean="0">
                <a:latin typeface="Times New Roman" pitchFamily="18" charset="0"/>
                <a:cs typeface="Times New Roman" pitchFamily="18" charset="0"/>
              </a:rPr>
              <a:t> ~4,500 (Train, Validation, Test Combined)</a:t>
            </a:r>
          </a:p>
          <a:p>
            <a:pPr marL="739775" indent="-739775"/>
            <a:endParaRPr lang="en-US" sz="800" b="1" dirty="0" smtClean="0">
              <a:latin typeface="Times New Roman" pitchFamily="18" charset="0"/>
              <a:cs typeface="Times New Roman" pitchFamily="18" charset="0"/>
            </a:endParaRPr>
          </a:p>
          <a:p>
            <a:pPr marL="739775" indent="-739775"/>
            <a:r>
              <a:rPr lang="en-US" sz="1600" b="1" dirty="0" smtClean="0">
                <a:latin typeface="Times New Roman" pitchFamily="18" charset="0"/>
                <a:cs typeface="Times New Roman" pitchFamily="18" charset="0"/>
              </a:rPr>
              <a:t>Classes: </a:t>
            </a:r>
            <a:r>
              <a:rPr lang="en-US" sz="1600" dirty="0" smtClean="0">
                <a:latin typeface="Times New Roman" pitchFamily="18" charset="0"/>
                <a:cs typeface="Times New Roman" pitchFamily="18" charset="0"/>
              </a:rPr>
              <a:t>Hardhat, Safety Vest, Mask, No-Hardhat, No-Mask, No-Vest, Person, Vehicle, Machinery, Safety Cone</a:t>
            </a:r>
          </a:p>
          <a:p>
            <a:endParaRPr lang="en-US" sz="800" b="1"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Split:</a:t>
            </a:r>
            <a:endParaRPr lang="en-US" sz="1600" dirty="0" smtClean="0">
              <a:latin typeface="Times New Roman" pitchFamily="18" charset="0"/>
              <a:cs typeface="Times New Roman" pitchFamily="18" charset="0"/>
            </a:endParaRPr>
          </a:p>
          <a:p>
            <a:pPr>
              <a:buFont typeface="Arial"/>
              <a:buChar char="•"/>
            </a:pPr>
            <a:r>
              <a:rPr lang="en-US" sz="1600" dirty="0" smtClean="0">
                <a:latin typeface="Times New Roman" pitchFamily="18" charset="0"/>
                <a:cs typeface="Times New Roman" pitchFamily="18" charset="0"/>
              </a:rPr>
              <a:t> Train: 2603</a:t>
            </a:r>
          </a:p>
          <a:p>
            <a:pPr>
              <a:buFont typeface="Arial"/>
              <a:buChar char="•"/>
            </a:pPr>
            <a:r>
              <a:rPr lang="en-US" sz="1600" dirty="0" smtClean="0">
                <a:latin typeface="Times New Roman" pitchFamily="18" charset="0"/>
                <a:cs typeface="Times New Roman" pitchFamily="18" charset="0"/>
              </a:rPr>
              <a:t> Validation: 114</a:t>
            </a:r>
          </a:p>
          <a:p>
            <a:pPr>
              <a:buFont typeface="Arial"/>
              <a:buChar char="•"/>
            </a:pPr>
            <a:r>
              <a:rPr lang="en-US" sz="1600" dirty="0" smtClean="0">
                <a:latin typeface="Times New Roman" pitchFamily="18" charset="0"/>
                <a:cs typeface="Times New Roman" pitchFamily="18" charset="0"/>
              </a:rPr>
              <a:t> Test: 82</a:t>
            </a:r>
          </a:p>
          <a:p>
            <a:endParaRPr lang="en-US" sz="800" b="1"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Insights:</a:t>
            </a:r>
            <a:endParaRPr lang="en-US" sz="1600" dirty="0" smtClean="0">
              <a:latin typeface="Times New Roman" pitchFamily="18" charset="0"/>
              <a:cs typeface="Times New Roman" pitchFamily="18" charset="0"/>
            </a:endParaRPr>
          </a:p>
          <a:p>
            <a:pPr>
              <a:buFont typeface="Arial"/>
              <a:buChar char="•"/>
            </a:pPr>
            <a:r>
              <a:rPr lang="en-US" sz="1600" dirty="0" smtClean="0">
                <a:latin typeface="Times New Roman" pitchFamily="18" charset="0"/>
                <a:cs typeface="Times New Roman" pitchFamily="18" charset="0"/>
              </a:rPr>
              <a:t> Diverse workplace environments</a:t>
            </a:r>
          </a:p>
          <a:p>
            <a:pPr>
              <a:buFont typeface="Arial"/>
              <a:buChar char="•"/>
            </a:pPr>
            <a:r>
              <a:rPr lang="en-US" sz="1600" dirty="0" smtClean="0">
                <a:latin typeface="Times New Roman" pitchFamily="18" charset="0"/>
                <a:cs typeface="Times New Roman" pitchFamily="18" charset="0"/>
              </a:rPr>
              <a:t> Imbalanced samples for some PPE types (e.g., masks, gloves)</a:t>
            </a:r>
          </a:p>
          <a:p>
            <a:pPr>
              <a:buFont typeface="Arial"/>
              <a:buChar char="•"/>
            </a:pPr>
            <a:r>
              <a:rPr lang="en-US" sz="1600" dirty="0" smtClean="0">
                <a:latin typeface="Times New Roman" pitchFamily="18" charset="0"/>
                <a:cs typeface="Times New Roman" pitchFamily="18" charset="0"/>
              </a:rPr>
              <a:t> Requires robust model generalization for low-light and motion blur scenarios</a:t>
            </a:r>
          </a:p>
          <a:p>
            <a:endParaRPr lang="en-US" sz="1600" dirty="0" smtClean="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869752"/>
            <a:ext cx="7543800" cy="4616648"/>
          </a:xfrm>
          <a:prstGeom prst="rect">
            <a:avLst/>
          </a:prstGeom>
        </p:spPr>
        <p:txBody>
          <a:bodyPr wrap="square">
            <a:spAutoFit/>
          </a:bodyPr>
          <a:lstStyle/>
          <a:p>
            <a:r>
              <a:rPr lang="en-US" sz="2000" b="1" dirty="0" smtClean="0">
                <a:latin typeface="Times New Roman" pitchFamily="18" charset="0"/>
                <a:cs typeface="Times New Roman" pitchFamily="18" charset="0"/>
              </a:rPr>
              <a:t>METHODOLOGY</a:t>
            </a:r>
          </a:p>
          <a:p>
            <a:endParaRPr lang="en-US" b="1"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Safety Eye follows a </a:t>
            </a:r>
            <a:r>
              <a:rPr lang="en-US" sz="1600" b="1" dirty="0" smtClean="0">
                <a:latin typeface="Times New Roman" pitchFamily="18" charset="0"/>
                <a:cs typeface="Times New Roman" pitchFamily="18" charset="0"/>
              </a:rPr>
              <a:t>5-stage modular workflow:</a:t>
            </a:r>
          </a:p>
          <a:p>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Data Preparation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Cleaning and organizing dataset in YOLOv8 format</a:t>
            </a:r>
          </a:p>
          <a:p>
            <a:pPr marL="342900" indent="-342900">
              <a:buFont typeface="+mj-lt"/>
              <a:buAutoNum type="arabicPeriod"/>
            </a:pPr>
            <a:endParaRPr lang="en-US" sz="1600" b="1"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Model Training</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YOLOv8-based PPE Detection</a:t>
            </a:r>
          </a:p>
          <a:p>
            <a:pPr marL="342900" indent="-342900">
              <a:buFont typeface="+mj-lt"/>
              <a:buAutoNum type="arabicPeriod"/>
            </a:pPr>
            <a:endParaRPr lang="en-US" sz="1600" b="1"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Rule Engine</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Violation Logic for PPE Compliance</a:t>
            </a:r>
          </a:p>
          <a:p>
            <a:pPr marL="342900" indent="-342900">
              <a:buFont typeface="+mj-lt"/>
              <a:buAutoNum type="arabicPeriod"/>
            </a:pPr>
            <a:endParaRPr lang="en-US" sz="1600" b="1"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Alert System</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Real-Time Notifications (Console / Email / GUI)</a:t>
            </a:r>
          </a:p>
          <a:p>
            <a:pPr marL="342900" indent="-342900">
              <a:buFont typeface="+mj-lt"/>
              <a:buAutoNum type="arabicPeriod"/>
            </a:pPr>
            <a:endParaRPr lang="en-US" sz="1600" b="1"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Dashboard Integration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err="1" smtClean="0">
                <a:latin typeface="Times New Roman" pitchFamily="18" charset="0"/>
                <a:cs typeface="Times New Roman" pitchFamily="18" charset="0"/>
              </a:rPr>
              <a:t>Streamlit</a:t>
            </a:r>
            <a:r>
              <a:rPr lang="en-US" sz="1600" dirty="0" smtClean="0">
                <a:latin typeface="Times New Roman" pitchFamily="18" charset="0"/>
                <a:cs typeface="Times New Roman" pitchFamily="18" charset="0"/>
              </a:rPr>
              <a:t>-based Visualization and Analytics</a:t>
            </a:r>
            <a:endParaRPr lang="en-US" sz="16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199" y="865287"/>
            <a:ext cx="7543801" cy="5386090"/>
          </a:xfrm>
          <a:prstGeom prst="rect">
            <a:avLst/>
          </a:prstGeom>
        </p:spPr>
        <p:txBody>
          <a:bodyPr wrap="square">
            <a:spAutoFit/>
          </a:bodyPr>
          <a:lstStyle/>
          <a:p>
            <a:r>
              <a:rPr lang="en-US" sz="2000" b="1" dirty="0" smtClean="0">
                <a:latin typeface="Times New Roman" pitchFamily="18" charset="0"/>
                <a:cs typeface="Times New Roman" pitchFamily="18" charset="0"/>
              </a:rPr>
              <a:t>DATA PREPARATION</a:t>
            </a:r>
            <a:endParaRPr lang="en-US" b="1" dirty="0" smtClean="0">
              <a:latin typeface="Times New Roman" pitchFamily="18" charset="0"/>
              <a:cs typeface="Times New Roman" pitchFamily="18" charset="0"/>
            </a:endParaRPr>
          </a:p>
          <a:p>
            <a:endParaRPr lang="en-US" b="1"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Collected and organized the dataset in </a:t>
            </a:r>
            <a:r>
              <a:rPr lang="en-US" b="1" dirty="0" smtClean="0">
                <a:latin typeface="Times New Roman" pitchFamily="18" charset="0"/>
                <a:cs typeface="Times New Roman" pitchFamily="18" charset="0"/>
              </a:rPr>
              <a:t>YOLOv8 format</a:t>
            </a:r>
            <a:r>
              <a:rPr lang="en-US" dirty="0" smtClean="0">
                <a:latin typeface="Times New Roman" pitchFamily="18" charset="0"/>
                <a:cs typeface="Times New Roman" pitchFamily="18" charset="0"/>
              </a:rPr>
              <a:t> (images +label files).</a:t>
            </a:r>
          </a:p>
          <a:p>
            <a:pPr>
              <a:buFont typeface="Arial" pitchFamily="34" charset="0"/>
              <a:buChar char="•"/>
            </a:pPr>
            <a:r>
              <a:rPr lang="en-US" dirty="0" smtClean="0">
                <a:latin typeface="Times New Roman" pitchFamily="18" charset="0"/>
                <a:cs typeface="Times New Roman" pitchFamily="18" charset="0"/>
              </a:rPr>
              <a:t> Removed </a:t>
            </a:r>
            <a:r>
              <a:rPr lang="en-US" b="1" dirty="0" smtClean="0">
                <a:latin typeface="Times New Roman" pitchFamily="18" charset="0"/>
                <a:cs typeface="Times New Roman" pitchFamily="18" charset="0"/>
              </a:rPr>
              <a:t>duplicate, corrupted, and mislabeled</a:t>
            </a:r>
            <a:r>
              <a:rPr lang="en-US" dirty="0" smtClean="0">
                <a:latin typeface="Times New Roman" pitchFamily="18" charset="0"/>
                <a:cs typeface="Times New Roman" pitchFamily="18" charset="0"/>
              </a:rPr>
              <a:t> images.</a:t>
            </a:r>
          </a:p>
          <a:p>
            <a:pPr>
              <a:buFont typeface="Arial" pitchFamily="34" charset="0"/>
              <a:buChar char="•"/>
            </a:pPr>
            <a:r>
              <a:rPr lang="en-US" dirty="0" smtClean="0">
                <a:latin typeface="Times New Roman" pitchFamily="18" charset="0"/>
                <a:cs typeface="Times New Roman" pitchFamily="18" charset="0"/>
              </a:rPr>
              <a:t> Verified bounding boxes using visualization scripts.</a:t>
            </a:r>
          </a:p>
          <a:p>
            <a:pPr>
              <a:buFont typeface="Arial" pitchFamily="34" charset="0"/>
              <a:buChar char="•"/>
            </a:pPr>
            <a:r>
              <a:rPr lang="en-US" dirty="0" smtClean="0">
                <a:latin typeface="Times New Roman" pitchFamily="18" charset="0"/>
                <a:cs typeface="Times New Roman" pitchFamily="18" charset="0"/>
              </a:rPr>
              <a:t> Performed </a:t>
            </a:r>
            <a:r>
              <a:rPr lang="en-US" b="1" dirty="0" smtClean="0">
                <a:latin typeface="Times New Roman" pitchFamily="18" charset="0"/>
                <a:cs typeface="Times New Roman" pitchFamily="18" charset="0"/>
              </a:rPr>
              <a:t>data augmentation</a:t>
            </a:r>
            <a:r>
              <a:rPr lang="en-US" dirty="0" smtClean="0">
                <a:latin typeface="Times New Roman" pitchFamily="18" charset="0"/>
                <a:cs typeface="Times New Roman" pitchFamily="18" charset="0"/>
              </a:rPr>
              <a:t> (flip, blur, brightness/contrast, rotation).</a:t>
            </a:r>
          </a:p>
          <a:p>
            <a:pPr>
              <a:buFont typeface="Arial" pitchFamily="34" charset="0"/>
              <a:buChar char="•"/>
            </a:pPr>
            <a:r>
              <a:rPr lang="en-US" dirty="0" smtClean="0">
                <a:latin typeface="Times New Roman" pitchFamily="18" charset="0"/>
                <a:cs typeface="Times New Roman" pitchFamily="18" charset="0"/>
              </a:rPr>
              <a:t> Normalized all images to </a:t>
            </a:r>
            <a:r>
              <a:rPr lang="en-US" b="1" dirty="0" smtClean="0">
                <a:latin typeface="Times New Roman" pitchFamily="18" charset="0"/>
                <a:cs typeface="Times New Roman" pitchFamily="18" charset="0"/>
              </a:rPr>
              <a:t>640×640 resolution</a:t>
            </a:r>
            <a:r>
              <a:rPr lang="en-US" dirty="0" smtClean="0">
                <a:latin typeface="Times New Roman" pitchFamily="18" charset="0"/>
                <a:cs typeface="Times New Roman" pitchFamily="18" charset="0"/>
              </a:rPr>
              <a:t> for model compatibility.</a:t>
            </a:r>
          </a:p>
          <a:p>
            <a:pPr>
              <a:buFont typeface="Arial" pitchFamily="34" charset="0"/>
              <a:buChar char="•"/>
            </a:pPr>
            <a:r>
              <a:rPr lang="en-US" dirty="0" smtClean="0">
                <a:latin typeface="Times New Roman" pitchFamily="18" charset="0"/>
                <a:cs typeface="Times New Roman" pitchFamily="18" charset="0"/>
              </a:rPr>
              <a:t> Prepared </a:t>
            </a:r>
            <a:r>
              <a:rPr lang="en-US" dirty="0" err="1" smtClean="0">
                <a:latin typeface="Times New Roman" pitchFamily="18" charset="0"/>
                <a:cs typeface="Times New Roman" pitchFamily="18" charset="0"/>
              </a:rPr>
              <a:t>data.yaml</a:t>
            </a:r>
            <a:r>
              <a:rPr lang="en-US" dirty="0" smtClean="0">
                <a:latin typeface="Times New Roman" pitchFamily="18" charset="0"/>
                <a:cs typeface="Times New Roman" pitchFamily="18" charset="0"/>
              </a:rPr>
              <a:t> with class names and dataset paths.</a:t>
            </a:r>
          </a:p>
          <a:p>
            <a:pPr>
              <a:buFont typeface="Arial" pitchFamily="34" charset="0"/>
              <a:buChar char="•"/>
            </a:pP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Feature Extraction</a:t>
            </a:r>
          </a:p>
          <a:p>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Model uses </a:t>
            </a:r>
            <a:r>
              <a:rPr lang="en-US" dirty="0" err="1" smtClean="0">
                <a:latin typeface="Times New Roman" pitchFamily="18" charset="0"/>
                <a:cs typeface="Times New Roman" pitchFamily="18" charset="0"/>
              </a:rPr>
              <a:t>Convolutional</a:t>
            </a:r>
            <a:r>
              <a:rPr lang="en-US" dirty="0" smtClean="0">
                <a:latin typeface="Times New Roman" pitchFamily="18" charset="0"/>
                <a:cs typeface="Times New Roman" pitchFamily="18" charset="0"/>
              </a:rPr>
              <a:t> Layers (CNN backbone) for feature maps</a:t>
            </a:r>
          </a:p>
          <a:p>
            <a:r>
              <a:rPr lang="en-US" dirty="0" smtClean="0">
                <a:latin typeface="Times New Roman" pitchFamily="18" charset="0"/>
                <a:cs typeface="Times New Roman" pitchFamily="18" charset="0"/>
              </a:rPr>
              <a:t>Extracts spatial patterns of PPE items such as helmets and vests</a:t>
            </a:r>
          </a:p>
          <a:p>
            <a:r>
              <a:rPr lang="en-US" dirty="0" smtClean="0">
                <a:latin typeface="Times New Roman" pitchFamily="18" charset="0"/>
                <a:cs typeface="Times New Roman" pitchFamily="18" charset="0"/>
              </a:rPr>
              <a:t>YOLOv8 provides end-to-end feature extraction, bounding box regression, and classification</a:t>
            </a:r>
          </a:p>
          <a:p>
            <a:r>
              <a:rPr lang="en-US" dirty="0" smtClean="0">
                <a:latin typeface="Times New Roman" pitchFamily="18" charset="0"/>
                <a:cs typeface="Times New Roman" pitchFamily="18" charset="0"/>
              </a:rPr>
              <a:t>High-level features used for rule-based PPE classification and violation detection</a:t>
            </a:r>
          </a:p>
          <a:p>
            <a:endParaRPr lang="en-US" dirty="0" smtClean="0">
              <a:latin typeface="Times New Roman" pitchFamily="18" charset="0"/>
              <a:cs typeface="Times New Roman" pitchFamily="18" charset="0"/>
            </a:endParaRPr>
          </a:p>
          <a:p>
            <a:pPr>
              <a:buFont typeface="Arial" pitchFamily="34" charset="0"/>
              <a:buChar char="•"/>
            </a:pPr>
            <a:endParaRPr lang="en-US"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889844"/>
            <a:ext cx="7543800" cy="4031873"/>
          </a:xfrm>
          <a:prstGeom prst="rect">
            <a:avLst/>
          </a:prstGeom>
        </p:spPr>
        <p:txBody>
          <a:bodyPr wrap="square">
            <a:spAutoFit/>
          </a:bodyPr>
          <a:lstStyle/>
          <a:p>
            <a:r>
              <a:rPr lang="en-US" sz="2000" b="1" dirty="0" smtClean="0">
                <a:latin typeface="Times New Roman" pitchFamily="18" charset="0"/>
                <a:cs typeface="Times New Roman" pitchFamily="18" charset="0"/>
              </a:rPr>
              <a:t>RULE &amp; VIOLATION ENGINE</a:t>
            </a:r>
          </a:p>
          <a:p>
            <a:endParaRPr lang="en-US" sz="2000" b="1"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Applies </a:t>
            </a:r>
            <a:r>
              <a:rPr lang="en-US" b="1" dirty="0" smtClean="0">
                <a:latin typeface="Times New Roman" pitchFamily="18" charset="0"/>
                <a:cs typeface="Times New Roman" pitchFamily="18" charset="0"/>
              </a:rPr>
              <a:t>safety rules</a:t>
            </a:r>
            <a:r>
              <a:rPr lang="en-US" dirty="0" smtClean="0">
                <a:latin typeface="Times New Roman" pitchFamily="18" charset="0"/>
                <a:cs typeface="Times New Roman" pitchFamily="18" charset="0"/>
              </a:rPr>
              <a:t> on top of YOLOv8 detections to check PPE compliance.</a:t>
            </a:r>
          </a:p>
          <a:p>
            <a:pPr>
              <a:buFont typeface="Arial" pitchFamily="34" charset="0"/>
              <a:buChar char="•"/>
            </a:pPr>
            <a:r>
              <a:rPr lang="en-US" dirty="0" smtClean="0">
                <a:latin typeface="Times New Roman" pitchFamily="18" charset="0"/>
                <a:cs typeface="Times New Roman" pitchFamily="18" charset="0"/>
              </a:rPr>
              <a:t> Evaluates each detected person for required safety gear:</a:t>
            </a:r>
          </a:p>
          <a:p>
            <a:pPr lvl="1">
              <a:buFont typeface="Arial" pitchFamily="34" charset="0"/>
              <a:buChar char="•"/>
            </a:pPr>
            <a:r>
              <a:rPr lang="en-US" dirty="0" smtClean="0">
                <a:latin typeface="Times New Roman" pitchFamily="18" charset="0"/>
                <a:cs typeface="Times New Roman" pitchFamily="18" charset="0"/>
              </a:rPr>
              <a:t> Helmet</a:t>
            </a:r>
          </a:p>
          <a:p>
            <a:pPr lvl="1">
              <a:buFont typeface="Arial" pitchFamily="34" charset="0"/>
              <a:buChar char="•"/>
            </a:pPr>
            <a:r>
              <a:rPr lang="en-US" dirty="0" smtClean="0">
                <a:latin typeface="Times New Roman" pitchFamily="18" charset="0"/>
                <a:cs typeface="Times New Roman" pitchFamily="18" charset="0"/>
              </a:rPr>
              <a:t> Safety Vest</a:t>
            </a:r>
          </a:p>
          <a:p>
            <a:pPr lvl="1">
              <a:buFont typeface="Arial" pitchFamily="34" charset="0"/>
              <a:buChar char="•"/>
            </a:pPr>
            <a:r>
              <a:rPr lang="en-US" dirty="0" smtClean="0">
                <a:latin typeface="Times New Roman" pitchFamily="18" charset="0"/>
                <a:cs typeface="Times New Roman" pitchFamily="18" charset="0"/>
              </a:rPr>
              <a:t> Mask</a:t>
            </a:r>
          </a:p>
          <a:p>
            <a:pPr>
              <a:buFont typeface="Arial" pitchFamily="34" charset="0"/>
              <a:buChar char="•"/>
            </a:pPr>
            <a:r>
              <a:rPr lang="en-US" dirty="0" smtClean="0">
                <a:latin typeface="Times New Roman" pitchFamily="18" charset="0"/>
                <a:cs typeface="Times New Roman" pitchFamily="18" charset="0"/>
              </a:rPr>
              <a:t> Uses </a:t>
            </a:r>
            <a:r>
              <a:rPr lang="en-US" b="1" dirty="0" smtClean="0">
                <a:latin typeface="Times New Roman" pitchFamily="18" charset="0"/>
                <a:cs typeface="Times New Roman" pitchFamily="18" charset="0"/>
              </a:rPr>
              <a:t>per-person logic</a:t>
            </a:r>
            <a:r>
              <a:rPr lang="en-US" dirty="0" smtClean="0">
                <a:latin typeface="Times New Roman" pitchFamily="18" charset="0"/>
                <a:cs typeface="Times New Roman" pitchFamily="18" charset="0"/>
              </a:rPr>
              <a:t> to identify:</a:t>
            </a:r>
          </a:p>
          <a:p>
            <a:pPr lvl="1">
              <a:buFont typeface="Arial" pitchFamily="34" charset="0"/>
              <a:buChar char="•"/>
            </a:pPr>
            <a:r>
              <a:rPr lang="en-US" b="1" dirty="0" smtClean="0">
                <a:latin typeface="Times New Roman" pitchFamily="18" charset="0"/>
                <a:cs typeface="Times New Roman" pitchFamily="18" charset="0"/>
              </a:rPr>
              <a:t> No Helmet</a:t>
            </a:r>
            <a:endParaRPr lang="en-US" dirty="0" smtClean="0">
              <a:latin typeface="Times New Roman" pitchFamily="18" charset="0"/>
              <a:cs typeface="Times New Roman" pitchFamily="18" charset="0"/>
            </a:endParaRPr>
          </a:p>
          <a:p>
            <a:pPr lvl="1">
              <a:buFont typeface="Arial" pitchFamily="34" charset="0"/>
              <a:buChar char="•"/>
            </a:pPr>
            <a:r>
              <a:rPr lang="en-US" b="1" dirty="0" smtClean="0">
                <a:latin typeface="Times New Roman" pitchFamily="18" charset="0"/>
                <a:cs typeface="Times New Roman" pitchFamily="18" charset="0"/>
              </a:rPr>
              <a:t> No Vest</a:t>
            </a:r>
            <a:endParaRPr lang="en-US" dirty="0" smtClean="0">
              <a:latin typeface="Times New Roman" pitchFamily="18" charset="0"/>
              <a:cs typeface="Times New Roman" pitchFamily="18" charset="0"/>
            </a:endParaRPr>
          </a:p>
          <a:p>
            <a:pPr lvl="1">
              <a:buFont typeface="Arial" pitchFamily="34" charset="0"/>
              <a:buChar char="•"/>
            </a:pPr>
            <a:r>
              <a:rPr lang="en-US" b="1" dirty="0" smtClean="0">
                <a:latin typeface="Times New Roman" pitchFamily="18" charset="0"/>
                <a:cs typeface="Times New Roman" pitchFamily="18" charset="0"/>
              </a:rPr>
              <a:t> No Mask</a:t>
            </a: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Uses </a:t>
            </a:r>
            <a:r>
              <a:rPr lang="en-US" b="1" dirty="0" smtClean="0">
                <a:latin typeface="Times New Roman" pitchFamily="18" charset="0"/>
                <a:cs typeface="Times New Roman" pitchFamily="18" charset="0"/>
              </a:rPr>
              <a:t>3-frame confirmation</a:t>
            </a:r>
            <a:r>
              <a:rPr lang="en-US" dirty="0" smtClean="0">
                <a:latin typeface="Times New Roman" pitchFamily="18" charset="0"/>
                <a:cs typeface="Times New Roman" pitchFamily="18" charset="0"/>
              </a:rPr>
              <a:t> to avoid false alerts due to flicker or motion blur.</a:t>
            </a:r>
          </a:p>
          <a:p>
            <a:pPr>
              <a:buFont typeface="Arial" pitchFamily="34" charset="0"/>
              <a:buChar char="•"/>
            </a:pPr>
            <a:r>
              <a:rPr lang="en-US" dirty="0" smtClean="0">
                <a:latin typeface="Times New Roman" pitchFamily="18" charset="0"/>
                <a:cs typeface="Times New Roman" pitchFamily="18" charset="0"/>
              </a:rPr>
              <a:t> Labels each person with </a:t>
            </a:r>
            <a:r>
              <a:rPr lang="en-US" b="1" dirty="0" smtClean="0">
                <a:latin typeface="Times New Roman" pitchFamily="18" charset="0"/>
                <a:cs typeface="Times New Roman" pitchFamily="18" charset="0"/>
              </a:rPr>
              <a:t>Green (Compliant)</a:t>
            </a:r>
            <a:r>
              <a:rPr lang="en-US" dirty="0" smtClean="0">
                <a:latin typeface="Times New Roman" pitchFamily="18" charset="0"/>
                <a:cs typeface="Times New Roman" pitchFamily="18" charset="0"/>
              </a:rPr>
              <a:t> or </a:t>
            </a:r>
            <a:r>
              <a:rPr lang="en-US" b="1" dirty="0" smtClean="0">
                <a:latin typeface="Times New Roman" pitchFamily="18" charset="0"/>
                <a:cs typeface="Times New Roman" pitchFamily="18" charset="0"/>
              </a:rPr>
              <a:t>Red (Violation)</a:t>
            </a:r>
            <a:r>
              <a:rPr lang="en-US" dirty="0" smtClean="0">
                <a:latin typeface="Times New Roman" pitchFamily="18" charset="0"/>
                <a:cs typeface="Times New Roman" pitchFamily="18" charset="0"/>
              </a:rPr>
              <a:t> overlays.</a:t>
            </a:r>
          </a:p>
          <a:p>
            <a:pPr>
              <a:buFont typeface="Arial" pitchFamily="34" charset="0"/>
              <a:buChar char="•"/>
            </a:pPr>
            <a:r>
              <a:rPr lang="en-US" dirty="0" smtClean="0">
                <a:latin typeface="Times New Roman" pitchFamily="18" charset="0"/>
                <a:cs typeface="Times New Roman" pitchFamily="18" charset="0"/>
              </a:rPr>
              <a:t> Supports multiple workers in the same frame with separate IDs.</a:t>
            </a:r>
            <a:endParaRPr lang="en-US"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ChangeArrowheads="1"/>
          </p:cNvSpPr>
          <p:nvPr/>
        </p:nvSpPr>
        <p:spPr bwMode="auto">
          <a:xfrm>
            <a:off x="838201" y="893803"/>
            <a:ext cx="7543800" cy="375487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2000" b="1" dirty="0" smtClean="0">
                <a:latin typeface="Times New Roman" pitchFamily="18" charset="0"/>
                <a:cs typeface="Times New Roman" pitchFamily="18" charset="0"/>
              </a:rPr>
              <a:t>MODEL TRAINING</a:t>
            </a:r>
          </a:p>
          <a:p>
            <a:pPr lvl="0" fontAlgn="base">
              <a:spcBef>
                <a:spcPct val="0"/>
              </a:spcBef>
              <a:spcAft>
                <a:spcPct val="0"/>
              </a:spcAft>
            </a:pP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Trained PPE detection model using </a:t>
            </a: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YOLOv8</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Used GPU acceleration for faster training and improved performance.</a:t>
            </a:r>
          </a:p>
          <a:p>
            <a:pPr marL="112713" marR="0" lvl="0" indent="-112713"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Model learned to detect: </a:t>
            </a: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Helmet, Vest, Mask, No-Helmet, No-Vest, No- Mask, Person</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Tuned training parameters for better precision and recall:</a:t>
            </a:r>
          </a:p>
          <a:p>
            <a:pPr lvl="1" eaLnBrk="0" fontAlgn="base" hangingPunct="0">
              <a:spcBef>
                <a:spcPct val="0"/>
              </a:spcBef>
              <a:spcAft>
                <a:spcPct val="0"/>
              </a:spcAft>
              <a:buFontTx/>
              <a:buChar char="•"/>
            </a:pP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 Epochs:</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50</a:t>
            </a:r>
          </a:p>
          <a:p>
            <a:pPr lvl="1" eaLnBrk="0" fontAlgn="base" hangingPunct="0">
              <a:spcBef>
                <a:spcPct val="0"/>
              </a:spcBef>
              <a:spcAft>
                <a:spcPct val="0"/>
              </a:spcAft>
              <a:buFontTx/>
              <a:buChar char="•"/>
            </a:pP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 Batch Size:</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16</a:t>
            </a:r>
          </a:p>
          <a:p>
            <a:pPr lvl="1" eaLnBrk="0" fontAlgn="base" hangingPunct="0">
              <a:spcBef>
                <a:spcPct val="0"/>
              </a:spcBef>
              <a:spcAft>
                <a:spcPct val="0"/>
              </a:spcAft>
              <a:buFontTx/>
              <a:buChar char="•"/>
            </a:pP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 Image Size:</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640</a:t>
            </a:r>
          </a:p>
          <a:p>
            <a:pPr lvl="1" eaLnBrk="0" fontAlgn="base" hangingPunct="0">
              <a:spcBef>
                <a:spcPct val="0"/>
              </a:spcBef>
              <a:spcAft>
                <a:spcPct val="0"/>
              </a:spcAft>
              <a:buFontTx/>
              <a:buChar char="•"/>
            </a:pP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 Learning Rate:</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0.005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Monitored loss curves and validation accuracy throughout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Saved best weights (best.pt) based on highest </a:t>
            </a:r>
            <a:r>
              <a:rPr kumimoji="0" lang="en-US" b="0" i="0" u="none" strike="noStrike" cap="none" normalizeH="0" baseline="0" dirty="0" err="1" smtClean="0">
                <a:ln>
                  <a:noFill/>
                </a:ln>
                <a:solidFill>
                  <a:schemeClr val="tx1"/>
                </a:solidFill>
                <a:effectLst/>
                <a:latin typeface="Times New Roman" pitchFamily="18" charset="0"/>
                <a:cs typeface="Times New Roman" pitchFamily="18" charset="0"/>
              </a:rPr>
              <a:t>mAP</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944701"/>
            <a:ext cx="7391400" cy="3724096"/>
          </a:xfrm>
          <a:prstGeom prst="rect">
            <a:avLst/>
          </a:prstGeom>
        </p:spPr>
        <p:txBody>
          <a:bodyPr wrap="square">
            <a:spAutoFit/>
          </a:bodyPr>
          <a:lstStyle/>
          <a:p>
            <a:r>
              <a:rPr lang="en-US" sz="2000" b="1" dirty="0" smtClean="0">
                <a:latin typeface="Times New Roman" pitchFamily="18" charset="0"/>
                <a:cs typeface="Times New Roman" pitchFamily="18" charset="0"/>
              </a:rPr>
              <a:t>TRAINING AND EVALUATION</a:t>
            </a:r>
          </a:p>
          <a:p>
            <a:endParaRPr lang="en-US" b="1"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Model trained with YOLOv8 using GPU acceleration</a:t>
            </a:r>
          </a:p>
          <a:p>
            <a:pPr>
              <a:buFont typeface="Arial" pitchFamily="34" charset="0"/>
              <a:buChar char="•"/>
            </a:pPr>
            <a:r>
              <a:rPr lang="en-US" dirty="0" smtClean="0">
                <a:latin typeface="Times New Roman" pitchFamily="18" charset="0"/>
                <a:cs typeface="Times New Roman" pitchFamily="18" charset="0"/>
              </a:rPr>
              <a:t> Real-time testing on multiple construction site videos</a:t>
            </a:r>
          </a:p>
          <a:p>
            <a:r>
              <a:rPr lang="en-US" dirty="0" smtClean="0">
                <a:latin typeface="Times New Roman" pitchFamily="18" charset="0"/>
                <a:cs typeface="Times New Roman" pitchFamily="18" charset="0"/>
              </a:rPr>
              <a:t> </a:t>
            </a:r>
          </a:p>
          <a:p>
            <a:pPr>
              <a:buFont typeface="Arial" pitchFamily="34" charset="0"/>
              <a:buChar char="•"/>
            </a:pPr>
            <a:r>
              <a:rPr lang="en-US" dirty="0" smtClean="0">
                <a:latin typeface="Times New Roman" pitchFamily="18" charset="0"/>
                <a:cs typeface="Times New Roman" pitchFamily="18" charset="0"/>
              </a:rPr>
              <a:t> Evaluated using:</a:t>
            </a:r>
          </a:p>
          <a:p>
            <a:pPr lvl="1">
              <a:buFont typeface="Arial" pitchFamily="34" charset="0"/>
              <a:buChar char="•"/>
            </a:pPr>
            <a:r>
              <a:rPr lang="en-US" dirty="0" smtClean="0">
                <a:latin typeface="Times New Roman" pitchFamily="18" charset="0"/>
                <a:cs typeface="Times New Roman" pitchFamily="18" charset="0"/>
              </a:rPr>
              <a:t> Precision, Recall, F1-Score, and </a:t>
            </a:r>
            <a:r>
              <a:rPr lang="en-US" dirty="0" err="1" smtClean="0">
                <a:latin typeface="Times New Roman" pitchFamily="18" charset="0"/>
                <a:cs typeface="Times New Roman" pitchFamily="18" charset="0"/>
              </a:rPr>
              <a:t>mAP</a:t>
            </a:r>
            <a:endParaRPr lang="en-US" dirty="0" smtClean="0">
              <a:latin typeface="Times New Roman" pitchFamily="18" charset="0"/>
              <a:cs typeface="Times New Roman" pitchFamily="18" charset="0"/>
            </a:endParaRPr>
          </a:p>
          <a:p>
            <a:pPr lvl="1">
              <a:buFont typeface="Arial" pitchFamily="34" charset="0"/>
              <a:buChar char="•"/>
            </a:pPr>
            <a:r>
              <a:rPr lang="en-US" dirty="0" smtClean="0">
                <a:latin typeface="Times New Roman" pitchFamily="18" charset="0"/>
                <a:cs typeface="Times New Roman" pitchFamily="18" charset="0"/>
              </a:rPr>
              <a:t> Average FPS for inference speed</a:t>
            </a:r>
          </a:p>
          <a:p>
            <a:r>
              <a:rPr lang="en-US" dirty="0" smtClean="0">
                <a:latin typeface="Times New Roman" pitchFamily="18" charset="0"/>
                <a:cs typeface="Times New Roman" pitchFamily="18" charset="0"/>
              </a:rPr>
              <a:t> </a:t>
            </a:r>
          </a:p>
          <a:p>
            <a:pPr>
              <a:buFont typeface="Arial" pitchFamily="34" charset="0"/>
              <a:buChar char="•"/>
            </a:pPr>
            <a:r>
              <a:rPr lang="en-US" dirty="0" smtClean="0">
                <a:latin typeface="Times New Roman" pitchFamily="18" charset="0"/>
                <a:cs typeface="Times New Roman" pitchFamily="18" charset="0"/>
              </a:rPr>
              <a:t> Model Performance:</a:t>
            </a:r>
          </a:p>
          <a:p>
            <a:pPr lvl="1">
              <a:buFont typeface="Arial" pitchFamily="34" charset="0"/>
              <a:buChar char="•"/>
            </a:pPr>
            <a:r>
              <a:rPr lang="en-US" dirty="0" smtClean="0">
                <a:latin typeface="Times New Roman" pitchFamily="18" charset="0"/>
                <a:cs typeface="Times New Roman" pitchFamily="18" charset="0"/>
              </a:rPr>
              <a:t> Average FPS: 25–30</a:t>
            </a:r>
          </a:p>
          <a:p>
            <a:pPr lvl="1">
              <a:buFont typeface="Arial" pitchFamily="34" charset="0"/>
              <a:buChar char="•"/>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Avg</a:t>
            </a:r>
            <a:r>
              <a:rPr lang="en-US" dirty="0" smtClean="0">
                <a:latin typeface="Times New Roman" pitchFamily="18" charset="0"/>
                <a:cs typeface="Times New Roman" pitchFamily="18" charset="0"/>
              </a:rPr>
              <a:t> Inference Time: 40 ms per frame</a:t>
            </a:r>
          </a:p>
          <a:p>
            <a:pPr lvl="1">
              <a:buFont typeface="Arial" pitchFamily="34" charset="0"/>
              <a:buChar char="•"/>
            </a:pPr>
            <a:r>
              <a:rPr lang="en-US" dirty="0" smtClean="0">
                <a:latin typeface="Times New Roman" pitchFamily="18" charset="0"/>
                <a:cs typeface="Times New Roman" pitchFamily="18" charset="0"/>
              </a:rPr>
              <a:t> Device: NVIDIA RTX 3060</a:t>
            </a:r>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09600" y="1410789"/>
          <a:ext cx="8001000" cy="3466011"/>
        </p:xfrm>
        <a:graphic>
          <a:graphicData uri="http://schemas.openxmlformats.org/drawingml/2006/table">
            <a:tbl>
              <a:tblPr>
                <a:tableStyleId>{616DA210-FB5B-4158-B5E0-FEB733F419BA}</a:tableStyleId>
              </a:tblPr>
              <a:tblGrid>
                <a:gridCol w="1600200"/>
                <a:gridCol w="1295400"/>
                <a:gridCol w="1066800"/>
                <a:gridCol w="4038600"/>
              </a:tblGrid>
              <a:tr h="406400">
                <a:tc>
                  <a:txBody>
                    <a:bodyPr/>
                    <a:lstStyle/>
                    <a:p>
                      <a:r>
                        <a:rPr lang="en-US" sz="1800" b="1" dirty="0">
                          <a:latin typeface="Times New Roman" pitchFamily="18" charset="0"/>
                          <a:cs typeface="Times New Roman" pitchFamily="18" charset="0"/>
                        </a:rPr>
                        <a:t>Input</a:t>
                      </a:r>
                    </a:p>
                  </a:txBody>
                  <a:tcPr marL="72571" marR="72571" marT="36286" marB="36286" anchor="ctr"/>
                </a:tc>
                <a:tc>
                  <a:txBody>
                    <a:bodyPr/>
                    <a:lstStyle/>
                    <a:p>
                      <a:r>
                        <a:rPr lang="en-US" sz="1800" b="1" dirty="0">
                          <a:latin typeface="Times New Roman" pitchFamily="18" charset="0"/>
                          <a:cs typeface="Times New Roman" pitchFamily="18" charset="0"/>
                        </a:rPr>
                        <a:t>Detection Quality</a:t>
                      </a:r>
                    </a:p>
                  </a:txBody>
                  <a:tcPr marL="72571" marR="72571" marT="36286" marB="36286" anchor="ctr"/>
                </a:tc>
                <a:tc>
                  <a:txBody>
                    <a:bodyPr/>
                    <a:lstStyle/>
                    <a:p>
                      <a:r>
                        <a:rPr lang="en-US" sz="1800" b="1">
                          <a:latin typeface="Times New Roman" pitchFamily="18" charset="0"/>
                          <a:cs typeface="Times New Roman" pitchFamily="18" charset="0"/>
                        </a:rPr>
                        <a:t>Frame Rate</a:t>
                      </a:r>
                    </a:p>
                  </a:txBody>
                  <a:tcPr marL="72571" marR="72571" marT="36286" marB="36286" anchor="ctr"/>
                </a:tc>
                <a:tc>
                  <a:txBody>
                    <a:bodyPr/>
                    <a:lstStyle/>
                    <a:p>
                      <a:r>
                        <a:rPr lang="en-US" sz="1800" b="1" dirty="0">
                          <a:latin typeface="Times New Roman" pitchFamily="18" charset="0"/>
                          <a:cs typeface="Times New Roman" pitchFamily="18" charset="0"/>
                        </a:rPr>
                        <a:t>Observation</a:t>
                      </a:r>
                    </a:p>
                  </a:txBody>
                  <a:tcPr marL="72571" marR="72571" marT="36286" marB="36286" anchor="ctr"/>
                </a:tc>
              </a:tr>
              <a:tr h="928914">
                <a:tc>
                  <a:txBody>
                    <a:bodyPr/>
                    <a:lstStyle/>
                    <a:p>
                      <a:r>
                        <a:rPr lang="en-US" sz="1800" dirty="0" err="1">
                          <a:latin typeface="Times New Roman" pitchFamily="18" charset="0"/>
                          <a:cs typeface="Times New Roman" pitchFamily="18" charset="0"/>
                        </a:rPr>
                        <a:t>webcam_feed</a:t>
                      </a:r>
                      <a:endParaRPr lang="en-US" sz="1800" dirty="0">
                        <a:latin typeface="Times New Roman" pitchFamily="18" charset="0"/>
                        <a:cs typeface="Times New Roman" pitchFamily="18" charset="0"/>
                      </a:endParaRPr>
                    </a:p>
                  </a:txBody>
                  <a:tcPr marL="72571" marR="72571" marT="36286" marB="36286" anchor="ctr"/>
                </a:tc>
                <a:tc>
                  <a:txBody>
                    <a:bodyPr/>
                    <a:lstStyle/>
                    <a:p>
                      <a:r>
                        <a:rPr lang="en-US" sz="1800" dirty="0">
                          <a:latin typeface="Times New Roman" pitchFamily="18" charset="0"/>
                          <a:cs typeface="Times New Roman" pitchFamily="18" charset="0"/>
                        </a:rPr>
                        <a:t>High</a:t>
                      </a:r>
                    </a:p>
                  </a:txBody>
                  <a:tcPr marL="72571" marR="72571" marT="36286" marB="36286" anchor="ctr"/>
                </a:tc>
                <a:tc>
                  <a:txBody>
                    <a:bodyPr/>
                    <a:lstStyle/>
                    <a:p>
                      <a:r>
                        <a:rPr lang="en-US" sz="1800">
                          <a:latin typeface="Times New Roman" pitchFamily="18" charset="0"/>
                          <a:cs typeface="Times New Roman" pitchFamily="18" charset="0"/>
                        </a:rPr>
                        <a:t>26 FPS</a:t>
                      </a:r>
                    </a:p>
                  </a:txBody>
                  <a:tcPr marL="72571" marR="72571" marT="36286" marB="36286" anchor="ctr"/>
                </a:tc>
                <a:tc>
                  <a:txBody>
                    <a:bodyPr/>
                    <a:lstStyle/>
                    <a:p>
                      <a:r>
                        <a:rPr lang="en-US" sz="1800">
                          <a:latin typeface="Times New Roman" pitchFamily="18" charset="0"/>
                          <a:cs typeface="Times New Roman" pitchFamily="18" charset="0"/>
                        </a:rPr>
                        <a:t>Smooth detection, stable bounding boxes</a:t>
                      </a:r>
                    </a:p>
                  </a:txBody>
                  <a:tcPr marL="72571" marR="72571" marT="36286" marB="36286" anchor="ctr"/>
                </a:tc>
              </a:tr>
              <a:tr h="754743">
                <a:tc>
                  <a:txBody>
                    <a:bodyPr/>
                    <a:lstStyle/>
                    <a:p>
                      <a:r>
                        <a:rPr lang="en-US" sz="1800">
                          <a:latin typeface="Times New Roman" pitchFamily="18" charset="0"/>
                          <a:cs typeface="Times New Roman" pitchFamily="18" charset="0"/>
                        </a:rPr>
                        <a:t>test_day.mp4</a:t>
                      </a:r>
                    </a:p>
                  </a:txBody>
                  <a:tcPr marL="72571" marR="72571" marT="36286" marB="36286" anchor="ctr"/>
                </a:tc>
                <a:tc>
                  <a:txBody>
                    <a:bodyPr/>
                    <a:lstStyle/>
                    <a:p>
                      <a:r>
                        <a:rPr lang="en-US" sz="1800" dirty="0">
                          <a:latin typeface="Times New Roman" pitchFamily="18" charset="0"/>
                          <a:cs typeface="Times New Roman" pitchFamily="18" charset="0"/>
                        </a:rPr>
                        <a:t>Moderate</a:t>
                      </a:r>
                    </a:p>
                  </a:txBody>
                  <a:tcPr marL="72571" marR="72571" marT="36286" marB="36286" anchor="ctr"/>
                </a:tc>
                <a:tc>
                  <a:txBody>
                    <a:bodyPr/>
                    <a:lstStyle/>
                    <a:p>
                      <a:r>
                        <a:rPr lang="en-US" sz="1800">
                          <a:latin typeface="Times New Roman" pitchFamily="18" charset="0"/>
                          <a:cs typeface="Times New Roman" pitchFamily="18" charset="0"/>
                        </a:rPr>
                        <a:t>23 FPS</a:t>
                      </a:r>
                    </a:p>
                  </a:txBody>
                  <a:tcPr marL="72571" marR="72571" marT="36286" marB="36286" anchor="ctr"/>
                </a:tc>
                <a:tc>
                  <a:txBody>
                    <a:bodyPr/>
                    <a:lstStyle/>
                    <a:p>
                      <a:r>
                        <a:rPr lang="en-US" sz="1800">
                          <a:latin typeface="Times New Roman" pitchFamily="18" charset="0"/>
                          <a:cs typeface="Times New Roman" pitchFamily="18" charset="0"/>
                        </a:rPr>
                        <a:t>Accurate detections, minor false positives</a:t>
                      </a:r>
                    </a:p>
                  </a:txBody>
                  <a:tcPr marL="72571" marR="72571" marT="36286" marB="36286" anchor="ctr"/>
                </a:tc>
              </a:tr>
              <a:tr h="580571">
                <a:tc>
                  <a:txBody>
                    <a:bodyPr/>
                    <a:lstStyle/>
                    <a:p>
                      <a:r>
                        <a:rPr lang="en-US" sz="1800">
                          <a:latin typeface="Times New Roman" pitchFamily="18" charset="0"/>
                          <a:cs typeface="Times New Roman" pitchFamily="18" charset="0"/>
                        </a:rPr>
                        <a:t>test_night.mp4</a:t>
                      </a:r>
                    </a:p>
                  </a:txBody>
                  <a:tcPr marL="72571" marR="72571" marT="36286" marB="36286" anchor="ctr"/>
                </a:tc>
                <a:tc>
                  <a:txBody>
                    <a:bodyPr/>
                    <a:lstStyle/>
                    <a:p>
                      <a:r>
                        <a:rPr lang="en-US" sz="1800">
                          <a:latin typeface="Times New Roman" pitchFamily="18" charset="0"/>
                          <a:cs typeface="Times New Roman" pitchFamily="18" charset="0"/>
                        </a:rPr>
                        <a:t>Low</a:t>
                      </a:r>
                    </a:p>
                  </a:txBody>
                  <a:tcPr marL="72571" marR="72571" marT="36286" marB="36286" anchor="ctr"/>
                </a:tc>
                <a:tc>
                  <a:txBody>
                    <a:bodyPr/>
                    <a:lstStyle/>
                    <a:p>
                      <a:r>
                        <a:rPr lang="en-US" sz="1800">
                          <a:latin typeface="Times New Roman" pitchFamily="18" charset="0"/>
                          <a:cs typeface="Times New Roman" pitchFamily="18" charset="0"/>
                        </a:rPr>
                        <a:t>18 FPS</a:t>
                      </a:r>
                    </a:p>
                  </a:txBody>
                  <a:tcPr marL="72571" marR="72571" marT="36286" marB="36286" anchor="ctr"/>
                </a:tc>
                <a:tc>
                  <a:txBody>
                    <a:bodyPr/>
                    <a:lstStyle/>
                    <a:p>
                      <a:r>
                        <a:rPr lang="en-US" sz="1800">
                          <a:latin typeface="Times New Roman" pitchFamily="18" charset="0"/>
                          <a:cs typeface="Times New Roman" pitchFamily="18" charset="0"/>
                        </a:rPr>
                        <a:t>Missed vest under low light</a:t>
                      </a:r>
                    </a:p>
                  </a:txBody>
                  <a:tcPr marL="72571" marR="72571" marT="36286" marB="36286" anchor="ctr"/>
                </a:tc>
              </a:tr>
              <a:tr h="580571">
                <a:tc>
                  <a:txBody>
                    <a:bodyPr/>
                    <a:lstStyle/>
                    <a:p>
                      <a:r>
                        <a:rPr lang="en-US" sz="1800" dirty="0">
                          <a:latin typeface="Times New Roman" pitchFamily="18" charset="0"/>
                          <a:cs typeface="Times New Roman" pitchFamily="18" charset="0"/>
                        </a:rPr>
                        <a:t>demo_site.mp4</a:t>
                      </a:r>
                    </a:p>
                  </a:txBody>
                  <a:tcPr marL="72571" marR="72571" marT="36286" marB="36286" anchor="ctr"/>
                </a:tc>
                <a:tc>
                  <a:txBody>
                    <a:bodyPr/>
                    <a:lstStyle/>
                    <a:p>
                      <a:r>
                        <a:rPr lang="en-US" sz="1800">
                          <a:latin typeface="Times New Roman" pitchFamily="18" charset="0"/>
                          <a:cs typeface="Times New Roman" pitchFamily="18" charset="0"/>
                        </a:rPr>
                        <a:t>High</a:t>
                      </a:r>
                    </a:p>
                  </a:txBody>
                  <a:tcPr marL="72571" marR="72571" marT="36286" marB="36286" anchor="ctr"/>
                </a:tc>
                <a:tc>
                  <a:txBody>
                    <a:bodyPr/>
                    <a:lstStyle/>
                    <a:p>
                      <a:r>
                        <a:rPr lang="en-US" sz="1800">
                          <a:latin typeface="Times New Roman" pitchFamily="18" charset="0"/>
                          <a:cs typeface="Times New Roman" pitchFamily="18" charset="0"/>
                        </a:rPr>
                        <a:t>25 FPS</a:t>
                      </a:r>
                    </a:p>
                  </a:txBody>
                  <a:tcPr marL="72571" marR="72571" marT="36286" marB="36286" anchor="ctr"/>
                </a:tc>
                <a:tc>
                  <a:txBody>
                    <a:bodyPr/>
                    <a:lstStyle/>
                    <a:p>
                      <a:r>
                        <a:rPr lang="en-US" sz="1800" dirty="0">
                          <a:latin typeface="Times New Roman" pitchFamily="18" charset="0"/>
                          <a:cs typeface="Times New Roman" pitchFamily="18" charset="0"/>
                        </a:rPr>
                        <a:t>Consistent, multi-person tracking</a:t>
                      </a:r>
                    </a:p>
                  </a:txBody>
                  <a:tcPr marL="72571" marR="72571" marT="36286" marB="36286" anchor="ctr"/>
                </a:tc>
              </a:tr>
            </a:tbl>
          </a:graphicData>
        </a:graphic>
      </p:graphicFrame>
      <p:sp>
        <p:nvSpPr>
          <p:cNvPr id="7169" name="Rectangle 1"/>
          <p:cNvSpPr>
            <a:spLocks noChangeArrowheads="1"/>
          </p:cNvSpPr>
          <p:nvPr/>
        </p:nvSpPr>
        <p:spPr bwMode="auto">
          <a:xfrm>
            <a:off x="838200" y="742890"/>
            <a:ext cx="75438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2000" b="1" dirty="0" smtClean="0">
                <a:latin typeface="Times New Roman" pitchFamily="18" charset="0"/>
                <a:cs typeface="Times New Roman" pitchFamily="18" charset="0"/>
              </a:rPr>
              <a:t>RESULTS</a:t>
            </a:r>
            <a:endParaRPr kumimoji="0" lang="en-US" sz="54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4" name="Rectangle 3"/>
          <p:cNvSpPr/>
          <p:nvPr/>
        </p:nvSpPr>
        <p:spPr>
          <a:xfrm>
            <a:off x="838200" y="5172670"/>
            <a:ext cx="7772400" cy="923330"/>
          </a:xfrm>
          <a:prstGeom prst="rect">
            <a:avLst/>
          </a:prstGeom>
        </p:spPr>
        <p:txBody>
          <a:bodyPr wrap="square">
            <a:spAutoFit/>
          </a:bodyPr>
          <a:lstStyle/>
          <a:p>
            <a:pPr>
              <a:buFont typeface="Arial" pitchFamily="34" charset="0"/>
              <a:buChar char="•"/>
            </a:pPr>
            <a:r>
              <a:rPr lang="en-US" dirty="0" smtClean="0">
                <a:latin typeface="Times New Roman" pitchFamily="18" charset="0"/>
                <a:cs typeface="Times New Roman" pitchFamily="18" charset="0"/>
              </a:rPr>
              <a:t> Reliable performance across lighting conditions </a:t>
            </a:r>
          </a:p>
          <a:p>
            <a:pPr>
              <a:buFont typeface="Arial" pitchFamily="34" charset="0"/>
              <a:buChar char="•"/>
            </a:pPr>
            <a:r>
              <a:rPr lang="en-US" dirty="0" smtClean="0">
                <a:latin typeface="Times New Roman" pitchFamily="18" charset="0"/>
                <a:cs typeface="Times New Roman" pitchFamily="18" charset="0"/>
              </a:rPr>
              <a:t> Violation detection stable across frames </a:t>
            </a:r>
          </a:p>
          <a:p>
            <a:pPr>
              <a:buFont typeface="Arial" pitchFamily="34" charset="0"/>
              <a:buChar char="•"/>
            </a:pPr>
            <a:r>
              <a:rPr lang="en-US" dirty="0" smtClean="0">
                <a:latin typeface="Times New Roman" pitchFamily="18" charset="0"/>
                <a:cs typeface="Times New Roman" pitchFamily="18" charset="0"/>
              </a:rPr>
              <a:t> Real-time alerts functional and accurate</a:t>
            </a:r>
            <a:endParaRPr lang="en-US"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457200" y="914400"/>
          <a:ext cx="8153400" cy="2566036"/>
        </p:xfrm>
        <a:graphic>
          <a:graphicData uri="http://schemas.openxmlformats.org/drawingml/2006/table">
            <a:tbl>
              <a:tblPr>
                <a:tableStyleId>{616DA210-FB5B-4158-B5E0-FEB733F419BA}</a:tableStyleId>
              </a:tblPr>
              <a:tblGrid>
                <a:gridCol w="1905000"/>
                <a:gridCol w="4038600"/>
                <a:gridCol w="2209800"/>
              </a:tblGrid>
              <a:tr h="314325">
                <a:tc>
                  <a:txBody>
                    <a:bodyPr/>
                    <a:lstStyle/>
                    <a:p>
                      <a:r>
                        <a:rPr lang="en-US" b="1" dirty="0">
                          <a:latin typeface="Times New Roman" pitchFamily="18" charset="0"/>
                          <a:cs typeface="Times New Roman" pitchFamily="18" charset="0"/>
                        </a:rPr>
                        <a:t>Input</a:t>
                      </a:r>
                    </a:p>
                  </a:txBody>
                  <a:tcPr anchor="ctr"/>
                </a:tc>
                <a:tc>
                  <a:txBody>
                    <a:bodyPr/>
                    <a:lstStyle/>
                    <a:p>
                      <a:r>
                        <a:rPr lang="en-US" b="1">
                          <a:latin typeface="Times New Roman" pitchFamily="18" charset="0"/>
                          <a:cs typeface="Times New Roman" pitchFamily="18" charset="0"/>
                        </a:rPr>
                        <a:t>Observation</a:t>
                      </a:r>
                    </a:p>
                  </a:txBody>
                  <a:tcPr anchor="ctr"/>
                </a:tc>
                <a:tc>
                  <a:txBody>
                    <a:bodyPr/>
                    <a:lstStyle/>
                    <a:p>
                      <a:r>
                        <a:rPr lang="en-US" b="1" dirty="0">
                          <a:latin typeface="Times New Roman" pitchFamily="18" charset="0"/>
                          <a:cs typeface="Times New Roman" pitchFamily="18" charset="0"/>
                        </a:rPr>
                        <a:t>Detection Quality</a:t>
                      </a:r>
                    </a:p>
                  </a:txBody>
                  <a:tcPr anchor="ctr"/>
                </a:tc>
              </a:tr>
              <a:tr h="550069">
                <a:tc>
                  <a:txBody>
                    <a:bodyPr/>
                    <a:lstStyle/>
                    <a:p>
                      <a:r>
                        <a:rPr lang="en-US">
                          <a:latin typeface="Times New Roman" pitchFamily="18" charset="0"/>
                          <a:cs typeface="Times New Roman" pitchFamily="18" charset="0"/>
                        </a:rPr>
                        <a:t>test1.jpg</a:t>
                      </a:r>
                    </a:p>
                  </a:txBody>
                  <a:tcPr anchor="ctr"/>
                </a:tc>
                <a:tc>
                  <a:txBody>
                    <a:bodyPr/>
                    <a:lstStyle/>
                    <a:p>
                      <a:r>
                        <a:rPr lang="en-US">
                          <a:latin typeface="Times New Roman" pitchFamily="18" charset="0"/>
                          <a:cs typeface="Times New Roman" pitchFamily="18" charset="0"/>
                        </a:rPr>
                        <a:t>Helmet and Vest detected accurately</a:t>
                      </a:r>
                    </a:p>
                  </a:txBody>
                  <a:tcPr anchor="ctr"/>
                </a:tc>
                <a:tc>
                  <a:txBody>
                    <a:bodyPr/>
                    <a:lstStyle/>
                    <a:p>
                      <a:r>
                        <a:rPr lang="en-US" dirty="0">
                          <a:latin typeface="Times New Roman" pitchFamily="18" charset="0"/>
                          <a:cs typeface="Times New Roman" pitchFamily="18" charset="0"/>
                        </a:rPr>
                        <a:t>High</a:t>
                      </a:r>
                    </a:p>
                  </a:txBody>
                  <a:tcPr anchor="ctr"/>
                </a:tc>
              </a:tr>
              <a:tr h="550069">
                <a:tc>
                  <a:txBody>
                    <a:bodyPr/>
                    <a:lstStyle/>
                    <a:p>
                      <a:r>
                        <a:rPr lang="en-US" dirty="0">
                          <a:latin typeface="Times New Roman" pitchFamily="18" charset="0"/>
                          <a:cs typeface="Times New Roman" pitchFamily="18" charset="0"/>
                        </a:rPr>
                        <a:t>test2.jpg</a:t>
                      </a:r>
                    </a:p>
                  </a:txBody>
                  <a:tcPr anchor="ctr"/>
                </a:tc>
                <a:tc>
                  <a:txBody>
                    <a:bodyPr/>
                    <a:lstStyle/>
                    <a:p>
                      <a:r>
                        <a:rPr lang="en-US" dirty="0">
                          <a:latin typeface="Times New Roman" pitchFamily="18" charset="0"/>
                          <a:cs typeface="Times New Roman" pitchFamily="18" charset="0"/>
                        </a:rPr>
                        <a:t>Gloves missed due to low contrast</a:t>
                      </a:r>
                    </a:p>
                  </a:txBody>
                  <a:tcPr anchor="ctr"/>
                </a:tc>
                <a:tc>
                  <a:txBody>
                    <a:bodyPr/>
                    <a:lstStyle/>
                    <a:p>
                      <a:r>
                        <a:rPr lang="en-US">
                          <a:latin typeface="Times New Roman" pitchFamily="18" charset="0"/>
                          <a:cs typeface="Times New Roman" pitchFamily="18" charset="0"/>
                        </a:rPr>
                        <a:t>Moderate</a:t>
                      </a:r>
                    </a:p>
                  </a:txBody>
                  <a:tcPr anchor="ctr"/>
                </a:tc>
              </a:tr>
              <a:tr h="550069">
                <a:tc>
                  <a:txBody>
                    <a:bodyPr/>
                    <a:lstStyle/>
                    <a:p>
                      <a:r>
                        <a:rPr lang="en-US" dirty="0">
                          <a:latin typeface="Times New Roman" pitchFamily="18" charset="0"/>
                          <a:cs typeface="Times New Roman" pitchFamily="18" charset="0"/>
                        </a:rPr>
                        <a:t>site_demo.mp4</a:t>
                      </a:r>
                    </a:p>
                  </a:txBody>
                  <a:tcPr anchor="ctr"/>
                </a:tc>
                <a:tc>
                  <a:txBody>
                    <a:bodyPr/>
                    <a:lstStyle/>
                    <a:p>
                      <a:r>
                        <a:rPr lang="en-US">
                          <a:latin typeface="Times New Roman" pitchFamily="18" charset="0"/>
                          <a:cs typeface="Times New Roman" pitchFamily="18" charset="0"/>
                        </a:rPr>
                        <a:t>Smooth tracking across frames</a:t>
                      </a:r>
                    </a:p>
                  </a:txBody>
                  <a:tcPr anchor="ctr"/>
                </a:tc>
                <a:tc>
                  <a:txBody>
                    <a:bodyPr/>
                    <a:lstStyle/>
                    <a:p>
                      <a:r>
                        <a:rPr lang="en-US">
                          <a:latin typeface="Times New Roman" pitchFamily="18" charset="0"/>
                          <a:cs typeface="Times New Roman" pitchFamily="18" charset="0"/>
                        </a:rPr>
                        <a:t>Good</a:t>
                      </a:r>
                    </a:p>
                  </a:txBody>
                  <a:tcPr anchor="ctr"/>
                </a:tc>
              </a:tr>
              <a:tr h="550069">
                <a:tc>
                  <a:txBody>
                    <a:bodyPr/>
                    <a:lstStyle/>
                    <a:p>
                      <a:r>
                        <a:rPr lang="en-US">
                          <a:latin typeface="Times New Roman" pitchFamily="18" charset="0"/>
                          <a:cs typeface="Times New Roman" pitchFamily="18" charset="0"/>
                        </a:rPr>
                        <a:t>test_night.mp4</a:t>
                      </a:r>
                    </a:p>
                  </a:txBody>
                  <a:tcPr anchor="ctr"/>
                </a:tc>
                <a:tc>
                  <a:txBody>
                    <a:bodyPr/>
                    <a:lstStyle/>
                    <a:p>
                      <a:r>
                        <a:rPr lang="en-US">
                          <a:latin typeface="Times New Roman" pitchFamily="18" charset="0"/>
                          <a:cs typeface="Times New Roman" pitchFamily="18" charset="0"/>
                        </a:rPr>
                        <a:t>Few missed detections under shadows</a:t>
                      </a:r>
                    </a:p>
                  </a:txBody>
                  <a:tcPr anchor="ctr"/>
                </a:tc>
                <a:tc>
                  <a:txBody>
                    <a:bodyPr/>
                    <a:lstStyle/>
                    <a:p>
                      <a:r>
                        <a:rPr lang="en-US" dirty="0">
                          <a:latin typeface="Times New Roman" pitchFamily="18" charset="0"/>
                          <a:cs typeface="Times New Roman" pitchFamily="18" charset="0"/>
                        </a:rPr>
                        <a:t>Fair</a:t>
                      </a:r>
                    </a:p>
                  </a:txBody>
                  <a:tcPr anchor="ctr"/>
                </a:tc>
              </a:tr>
            </a:tbl>
          </a:graphicData>
        </a:graphic>
      </p:graphicFrame>
      <p:graphicFrame>
        <p:nvGraphicFramePr>
          <p:cNvPr id="4" name="Table 3"/>
          <p:cNvGraphicFramePr>
            <a:graphicFrameLocks noGrp="1"/>
          </p:cNvGraphicFramePr>
          <p:nvPr/>
        </p:nvGraphicFramePr>
        <p:xfrm>
          <a:off x="533400" y="4191000"/>
          <a:ext cx="4191000" cy="1828800"/>
        </p:xfrm>
        <a:graphic>
          <a:graphicData uri="http://schemas.openxmlformats.org/drawingml/2006/table">
            <a:tbl>
              <a:tblPr>
                <a:tableStyleId>{616DA210-FB5B-4158-B5E0-FEB733F419BA}</a:tableStyleId>
              </a:tblPr>
              <a:tblGrid>
                <a:gridCol w="2095500"/>
                <a:gridCol w="2095500"/>
              </a:tblGrid>
              <a:tr h="0">
                <a:tc>
                  <a:txBody>
                    <a:bodyPr/>
                    <a:lstStyle/>
                    <a:p>
                      <a:r>
                        <a:rPr lang="en-US" b="1" dirty="0">
                          <a:latin typeface="Times New Roman" pitchFamily="18" charset="0"/>
                          <a:cs typeface="Times New Roman" pitchFamily="18" charset="0"/>
                        </a:rPr>
                        <a:t>Metric</a:t>
                      </a:r>
                    </a:p>
                  </a:txBody>
                  <a:tcPr anchor="ctr"/>
                </a:tc>
                <a:tc>
                  <a:txBody>
                    <a:bodyPr/>
                    <a:lstStyle/>
                    <a:p>
                      <a:r>
                        <a:rPr lang="en-US" b="1" dirty="0">
                          <a:latin typeface="Times New Roman" pitchFamily="18" charset="0"/>
                          <a:cs typeface="Times New Roman" pitchFamily="18" charset="0"/>
                        </a:rPr>
                        <a:t>Value</a:t>
                      </a:r>
                    </a:p>
                  </a:txBody>
                  <a:tcPr anchor="ctr"/>
                </a:tc>
              </a:tr>
              <a:tr h="0">
                <a:tc>
                  <a:txBody>
                    <a:bodyPr/>
                    <a:lstStyle/>
                    <a:p>
                      <a:r>
                        <a:rPr lang="en-US">
                          <a:latin typeface="Times New Roman" pitchFamily="18" charset="0"/>
                          <a:cs typeface="Times New Roman" pitchFamily="18" charset="0"/>
                        </a:rPr>
                        <a:t>Precision</a:t>
                      </a:r>
                    </a:p>
                  </a:txBody>
                  <a:tcPr anchor="ctr"/>
                </a:tc>
                <a:tc>
                  <a:txBody>
                    <a:bodyPr/>
                    <a:lstStyle/>
                    <a:p>
                      <a:r>
                        <a:rPr lang="en-US" dirty="0">
                          <a:latin typeface="Times New Roman" pitchFamily="18" charset="0"/>
                          <a:cs typeface="Times New Roman" pitchFamily="18" charset="0"/>
                        </a:rPr>
                        <a:t>0.855</a:t>
                      </a:r>
                    </a:p>
                  </a:txBody>
                  <a:tcPr anchor="ctr"/>
                </a:tc>
              </a:tr>
              <a:tr h="0">
                <a:tc>
                  <a:txBody>
                    <a:bodyPr/>
                    <a:lstStyle/>
                    <a:p>
                      <a:r>
                        <a:rPr lang="en-US">
                          <a:latin typeface="Times New Roman" pitchFamily="18" charset="0"/>
                          <a:cs typeface="Times New Roman" pitchFamily="18" charset="0"/>
                        </a:rPr>
                        <a:t>Recall</a:t>
                      </a:r>
                    </a:p>
                  </a:txBody>
                  <a:tcPr anchor="ctr"/>
                </a:tc>
                <a:tc>
                  <a:txBody>
                    <a:bodyPr/>
                    <a:lstStyle/>
                    <a:p>
                      <a:r>
                        <a:rPr lang="en-US">
                          <a:latin typeface="Times New Roman" pitchFamily="18" charset="0"/>
                          <a:cs typeface="Times New Roman" pitchFamily="18" charset="0"/>
                        </a:rPr>
                        <a:t>0.714</a:t>
                      </a:r>
                    </a:p>
                  </a:txBody>
                  <a:tcPr anchor="ctr"/>
                </a:tc>
              </a:tr>
              <a:tr h="0">
                <a:tc>
                  <a:txBody>
                    <a:bodyPr/>
                    <a:lstStyle/>
                    <a:p>
                      <a:r>
                        <a:rPr lang="en-US" dirty="0">
                          <a:latin typeface="Times New Roman" pitchFamily="18" charset="0"/>
                          <a:cs typeface="Times New Roman" pitchFamily="18" charset="0"/>
                        </a:rPr>
                        <a:t>mAP50</a:t>
                      </a:r>
                    </a:p>
                  </a:txBody>
                  <a:tcPr anchor="ctr"/>
                </a:tc>
                <a:tc>
                  <a:txBody>
                    <a:bodyPr/>
                    <a:lstStyle/>
                    <a:p>
                      <a:r>
                        <a:rPr lang="en-US" dirty="0">
                          <a:latin typeface="Times New Roman" pitchFamily="18" charset="0"/>
                          <a:cs typeface="Times New Roman" pitchFamily="18" charset="0"/>
                        </a:rPr>
                        <a:t>0.786</a:t>
                      </a:r>
                    </a:p>
                  </a:txBody>
                  <a:tcPr anchor="ctr"/>
                </a:tc>
              </a:tr>
              <a:tr h="0">
                <a:tc>
                  <a:txBody>
                    <a:bodyPr/>
                    <a:lstStyle/>
                    <a:p>
                      <a:r>
                        <a:rPr lang="en-US">
                          <a:latin typeface="Times New Roman" pitchFamily="18" charset="0"/>
                          <a:cs typeface="Times New Roman" pitchFamily="18" charset="0"/>
                        </a:rPr>
                        <a:t>mAP50-95</a:t>
                      </a:r>
                    </a:p>
                  </a:txBody>
                  <a:tcPr anchor="ctr"/>
                </a:tc>
                <a:tc>
                  <a:txBody>
                    <a:bodyPr/>
                    <a:lstStyle/>
                    <a:p>
                      <a:r>
                        <a:rPr lang="en-US" dirty="0">
                          <a:latin typeface="Times New Roman" pitchFamily="18" charset="0"/>
                          <a:cs typeface="Times New Roman" pitchFamily="18" charset="0"/>
                        </a:rPr>
                        <a:t>0.466</a:t>
                      </a:r>
                    </a:p>
                  </a:txBody>
                  <a:tcPr anchor="ctr"/>
                </a:tc>
              </a:tr>
            </a:tbl>
          </a:graphicData>
        </a:graphic>
      </p:graphicFrame>
      <p:sp>
        <p:nvSpPr>
          <p:cNvPr id="9218" name="Rectangle 2"/>
          <p:cNvSpPr>
            <a:spLocks noChangeArrowheads="1"/>
          </p:cNvSpPr>
          <p:nvPr/>
        </p:nvSpPr>
        <p:spPr bwMode="auto">
          <a:xfrm>
            <a:off x="381000" y="381000"/>
            <a:ext cx="2249527" cy="40011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lvl="0" fontAlgn="base">
              <a:spcBef>
                <a:spcPct val="0"/>
              </a:spcBef>
              <a:spcAft>
                <a:spcPct val="0"/>
              </a:spcAft>
            </a:pPr>
            <a:r>
              <a:rPr lang="en-US" sz="2000" b="1" dirty="0" smtClean="0">
                <a:latin typeface="Times New Roman" pitchFamily="18" charset="0"/>
                <a:cs typeface="Times New Roman" pitchFamily="18" charset="0"/>
              </a:rPr>
              <a:t>VISUALIZATION</a:t>
            </a:r>
            <a:endParaRPr kumimoji="0" lang="en-US" sz="60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6" name="Rectangle 5"/>
          <p:cNvSpPr/>
          <p:nvPr/>
        </p:nvSpPr>
        <p:spPr>
          <a:xfrm>
            <a:off x="457200" y="3657600"/>
            <a:ext cx="2358338" cy="369332"/>
          </a:xfrm>
          <a:prstGeom prst="rect">
            <a:avLst/>
          </a:prstGeom>
        </p:spPr>
        <p:txBody>
          <a:bodyPr wrap="none">
            <a:spAutoFit/>
          </a:bodyPr>
          <a:lstStyle/>
          <a:p>
            <a:r>
              <a:rPr lang="en-US" b="1" dirty="0" smtClean="0">
                <a:latin typeface="Times New Roman" pitchFamily="18" charset="0"/>
                <a:cs typeface="Times New Roman" pitchFamily="18" charset="0"/>
              </a:rPr>
              <a:t>Performance Metrics: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nternships\Infosys Springboard\SafetyEye\final_report\metrics\confusion_matrix.png"/>
          <p:cNvPicPr>
            <a:picLocks noChangeAspect="1" noChangeArrowheads="1"/>
          </p:cNvPicPr>
          <p:nvPr/>
        </p:nvPicPr>
        <p:blipFill>
          <a:blip r:embed="rId2" cstate="print"/>
          <a:srcRect/>
          <a:stretch>
            <a:fillRect/>
          </a:stretch>
        </p:blipFill>
        <p:spPr bwMode="auto">
          <a:xfrm>
            <a:off x="-1" y="0"/>
            <a:ext cx="9144001" cy="6858002"/>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8200" y="840700"/>
            <a:ext cx="7620000" cy="2893100"/>
          </a:xfrm>
          <a:prstGeom prst="rect">
            <a:avLst/>
          </a:prstGeom>
        </p:spPr>
        <p:txBody>
          <a:bodyPr wrap="square">
            <a:spAutoFit/>
          </a:bodyPr>
          <a:lstStyle/>
          <a:p>
            <a:r>
              <a:rPr lang="en-US" sz="2000" b="1" dirty="0" smtClean="0">
                <a:latin typeface="Times New Roman" pitchFamily="18" charset="0"/>
                <a:cs typeface="Times New Roman" pitchFamily="18" charset="0"/>
              </a:rPr>
              <a:t>USER INTERFACE &amp; ALERT SYSTEM</a:t>
            </a: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Features</a:t>
            </a:r>
          </a:p>
          <a:p>
            <a:pPr>
              <a:buFont typeface="Arial" pitchFamily="34" charset="0"/>
              <a:buChar char="•"/>
            </a:pPr>
            <a:r>
              <a:rPr lang="en-US" dirty="0" smtClean="0">
                <a:latin typeface="Times New Roman" pitchFamily="18" charset="0"/>
                <a:cs typeface="Times New Roman" pitchFamily="18" charset="0"/>
              </a:rPr>
              <a:t> Displays live camera or video feed</a:t>
            </a:r>
          </a:p>
          <a:p>
            <a:pPr>
              <a:buFont typeface="Arial" pitchFamily="34" charset="0"/>
              <a:buChar char="•"/>
            </a:pPr>
            <a:r>
              <a:rPr lang="en-US" dirty="0" smtClean="0">
                <a:latin typeface="Times New Roman" pitchFamily="18" charset="0"/>
                <a:cs typeface="Times New Roman" pitchFamily="18" charset="0"/>
              </a:rPr>
              <a:t> Overlays bounding boxes (Green for PPE, Red for violations)</a:t>
            </a:r>
          </a:p>
          <a:p>
            <a:pPr>
              <a:buFont typeface="Arial" pitchFamily="34" charset="0"/>
              <a:buChar char="•"/>
            </a:pPr>
            <a:r>
              <a:rPr lang="en-US" dirty="0" smtClean="0">
                <a:latin typeface="Times New Roman" pitchFamily="18" charset="0"/>
                <a:cs typeface="Times New Roman" pitchFamily="18" charset="0"/>
              </a:rPr>
              <a:t> Real-time alert messages displayed in console or email</a:t>
            </a:r>
          </a:p>
          <a:p>
            <a:pPr>
              <a:buFont typeface="Arial" pitchFamily="34" charset="0"/>
              <a:buChar char="•"/>
            </a:pPr>
            <a:r>
              <a:rPr lang="en-US" dirty="0" smtClean="0">
                <a:latin typeface="Times New Roman" pitchFamily="18" charset="0"/>
                <a:cs typeface="Times New Roman" pitchFamily="18" charset="0"/>
              </a:rPr>
              <a:t> Option to integrate with </a:t>
            </a:r>
            <a:r>
              <a:rPr lang="en-US" dirty="0" err="1" smtClean="0">
                <a:latin typeface="Times New Roman" pitchFamily="18" charset="0"/>
                <a:cs typeface="Times New Roman" pitchFamily="18" charset="0"/>
              </a:rPr>
              <a:t>Streamlit</a:t>
            </a:r>
            <a:r>
              <a:rPr lang="en-US" dirty="0" smtClean="0">
                <a:latin typeface="Times New Roman" pitchFamily="18" charset="0"/>
                <a:cs typeface="Times New Roman" pitchFamily="18" charset="0"/>
              </a:rPr>
              <a:t> dashboard</a:t>
            </a:r>
          </a:p>
          <a:p>
            <a:pPr>
              <a:buFont typeface="Arial" pitchFamily="34" charset="0"/>
              <a:buChar char="•"/>
            </a:pPr>
            <a:endParaRPr lang="en-US" dirty="0" smtClean="0">
              <a:latin typeface="Times New Roman" pitchFamily="18" charset="0"/>
              <a:cs typeface="Times New Roman" pitchFamily="18" charset="0"/>
            </a:endParaRPr>
          </a:p>
          <a:p>
            <a:pPr lvl="0" fontAlgn="base">
              <a:spcBef>
                <a:spcPct val="0"/>
              </a:spcBef>
              <a:spcAft>
                <a:spcPct val="0"/>
              </a:spcAft>
            </a:pPr>
            <a:endParaRPr lang="en-US" b="1" dirty="0" smtClean="0">
              <a:latin typeface="Times New Roman" pitchFamily="18" charset="0"/>
              <a:cs typeface="Times New Roman" pitchFamily="18" charset="0"/>
            </a:endParaRPr>
          </a:p>
          <a:p>
            <a:pPr lvl="0" fontAlgn="base">
              <a:spcBef>
                <a:spcPct val="0"/>
              </a:spcBef>
              <a:spcAft>
                <a:spcPct val="0"/>
              </a:spcAft>
            </a:pPr>
            <a:r>
              <a:rPr lang="en-US" b="1" dirty="0" smtClean="0">
                <a:latin typeface="Times New Roman" pitchFamily="18" charset="0"/>
                <a:cs typeface="Times New Roman" pitchFamily="18" charset="0"/>
              </a:rPr>
              <a:t>Performance Example:</a:t>
            </a:r>
            <a:endParaRPr lang="en-US" sz="800" b="1" dirty="0" smtClean="0">
              <a:latin typeface="Times New Roman" pitchFamily="18" charset="0"/>
              <a:cs typeface="Times New Roman" pitchFamily="18" charset="0"/>
            </a:endParaRPr>
          </a:p>
        </p:txBody>
      </p:sp>
      <p:graphicFrame>
        <p:nvGraphicFramePr>
          <p:cNvPr id="6" name="Table 5"/>
          <p:cNvGraphicFramePr>
            <a:graphicFrameLocks noGrp="1"/>
          </p:cNvGraphicFramePr>
          <p:nvPr/>
        </p:nvGraphicFramePr>
        <p:xfrm>
          <a:off x="914400" y="3810000"/>
          <a:ext cx="5638800" cy="1463040"/>
        </p:xfrm>
        <a:graphic>
          <a:graphicData uri="http://schemas.openxmlformats.org/drawingml/2006/table">
            <a:tbl>
              <a:tblPr>
                <a:tableStyleId>{616DA210-FB5B-4158-B5E0-FEB733F419BA}</a:tableStyleId>
              </a:tblPr>
              <a:tblGrid>
                <a:gridCol w="1879600"/>
                <a:gridCol w="869315"/>
                <a:gridCol w="2889885"/>
              </a:tblGrid>
              <a:tr h="0">
                <a:tc>
                  <a:txBody>
                    <a:bodyPr/>
                    <a:lstStyle/>
                    <a:p>
                      <a:r>
                        <a:rPr lang="en-US" b="1" dirty="0">
                          <a:latin typeface="Times New Roman" pitchFamily="18" charset="0"/>
                          <a:cs typeface="Times New Roman" pitchFamily="18" charset="0"/>
                        </a:rPr>
                        <a:t>Input</a:t>
                      </a:r>
                    </a:p>
                  </a:txBody>
                  <a:tcPr anchor="ctr"/>
                </a:tc>
                <a:tc>
                  <a:txBody>
                    <a:bodyPr/>
                    <a:lstStyle/>
                    <a:p>
                      <a:r>
                        <a:rPr lang="en-US" b="1">
                          <a:latin typeface="Times New Roman" pitchFamily="18" charset="0"/>
                          <a:cs typeface="Times New Roman" pitchFamily="18" charset="0"/>
                        </a:rPr>
                        <a:t>FPS</a:t>
                      </a:r>
                    </a:p>
                  </a:txBody>
                  <a:tcPr anchor="ctr"/>
                </a:tc>
                <a:tc>
                  <a:txBody>
                    <a:bodyPr/>
                    <a:lstStyle/>
                    <a:p>
                      <a:r>
                        <a:rPr lang="en-US" b="1" dirty="0">
                          <a:latin typeface="Times New Roman" pitchFamily="18" charset="0"/>
                          <a:cs typeface="Times New Roman" pitchFamily="18" charset="0"/>
                        </a:rPr>
                        <a:t>Observations</a:t>
                      </a:r>
                    </a:p>
                  </a:txBody>
                  <a:tcPr anchor="ctr"/>
                </a:tc>
              </a:tr>
              <a:tr h="0">
                <a:tc>
                  <a:txBody>
                    <a:bodyPr/>
                    <a:lstStyle/>
                    <a:p>
                      <a:r>
                        <a:rPr lang="en-US">
                          <a:latin typeface="Times New Roman" pitchFamily="18" charset="0"/>
                          <a:cs typeface="Times New Roman" pitchFamily="18" charset="0"/>
                        </a:rPr>
                        <a:t>Webcam Feed</a:t>
                      </a:r>
                    </a:p>
                  </a:txBody>
                  <a:tcPr anchor="ctr"/>
                </a:tc>
                <a:tc>
                  <a:txBody>
                    <a:bodyPr/>
                    <a:lstStyle/>
                    <a:p>
                      <a:r>
                        <a:rPr lang="en-US">
                          <a:latin typeface="Times New Roman" pitchFamily="18" charset="0"/>
                          <a:cs typeface="Times New Roman" pitchFamily="18" charset="0"/>
                        </a:rPr>
                        <a:t>26</a:t>
                      </a:r>
                    </a:p>
                  </a:txBody>
                  <a:tcPr anchor="ctr"/>
                </a:tc>
                <a:tc>
                  <a:txBody>
                    <a:bodyPr/>
                    <a:lstStyle/>
                    <a:p>
                      <a:r>
                        <a:rPr lang="en-US">
                          <a:latin typeface="Times New Roman" pitchFamily="18" charset="0"/>
                          <a:cs typeface="Times New Roman" pitchFamily="18" charset="0"/>
                        </a:rPr>
                        <a:t>Smooth detection</a:t>
                      </a:r>
                    </a:p>
                  </a:txBody>
                  <a:tcPr anchor="ctr"/>
                </a:tc>
              </a:tr>
              <a:tr h="0">
                <a:tc>
                  <a:txBody>
                    <a:bodyPr/>
                    <a:lstStyle/>
                    <a:p>
                      <a:r>
                        <a:rPr lang="en-US" dirty="0">
                          <a:latin typeface="Times New Roman" pitchFamily="18" charset="0"/>
                          <a:cs typeface="Times New Roman" pitchFamily="18" charset="0"/>
                        </a:rPr>
                        <a:t>Site Day</a:t>
                      </a:r>
                    </a:p>
                  </a:txBody>
                  <a:tcPr anchor="ctr"/>
                </a:tc>
                <a:tc>
                  <a:txBody>
                    <a:bodyPr/>
                    <a:lstStyle/>
                    <a:p>
                      <a:r>
                        <a:rPr lang="en-US">
                          <a:latin typeface="Times New Roman" pitchFamily="18" charset="0"/>
                          <a:cs typeface="Times New Roman" pitchFamily="18" charset="0"/>
                        </a:rPr>
                        <a:t>23</a:t>
                      </a:r>
                    </a:p>
                  </a:txBody>
                  <a:tcPr anchor="ctr"/>
                </a:tc>
                <a:tc>
                  <a:txBody>
                    <a:bodyPr/>
                    <a:lstStyle/>
                    <a:p>
                      <a:r>
                        <a:rPr lang="en-US">
                          <a:latin typeface="Times New Roman" pitchFamily="18" charset="0"/>
                          <a:cs typeface="Times New Roman" pitchFamily="18" charset="0"/>
                        </a:rPr>
                        <a:t>Minor false positives</a:t>
                      </a:r>
                    </a:p>
                  </a:txBody>
                  <a:tcPr anchor="ctr"/>
                </a:tc>
              </a:tr>
              <a:tr h="0">
                <a:tc>
                  <a:txBody>
                    <a:bodyPr/>
                    <a:lstStyle/>
                    <a:p>
                      <a:r>
                        <a:rPr lang="en-US">
                          <a:latin typeface="Times New Roman" pitchFamily="18" charset="0"/>
                          <a:cs typeface="Times New Roman" pitchFamily="18" charset="0"/>
                        </a:rPr>
                        <a:t>Site Night</a:t>
                      </a:r>
                    </a:p>
                  </a:txBody>
                  <a:tcPr anchor="ctr"/>
                </a:tc>
                <a:tc>
                  <a:txBody>
                    <a:bodyPr/>
                    <a:lstStyle/>
                    <a:p>
                      <a:r>
                        <a:rPr lang="en-US">
                          <a:latin typeface="Times New Roman" pitchFamily="18" charset="0"/>
                          <a:cs typeface="Times New Roman" pitchFamily="18" charset="0"/>
                        </a:rPr>
                        <a:t>18</a:t>
                      </a:r>
                    </a:p>
                  </a:txBody>
                  <a:tcPr anchor="ctr"/>
                </a:tc>
                <a:tc>
                  <a:txBody>
                    <a:bodyPr/>
                    <a:lstStyle/>
                    <a:p>
                      <a:r>
                        <a:rPr lang="en-US" dirty="0">
                          <a:latin typeface="Times New Roman" pitchFamily="18" charset="0"/>
                          <a:cs typeface="Times New Roman" pitchFamily="18" charset="0"/>
                        </a:rPr>
                        <a:t>Missed vest in low light</a:t>
                      </a:r>
                    </a:p>
                  </a:txBody>
                  <a:tcPr anchor="ct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0" y="0"/>
            <a:ext cx="4648200" cy="46482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cstate="print"/>
          <a:srcRect/>
          <a:stretch>
            <a:fillRect/>
          </a:stretch>
        </p:blipFill>
        <p:spPr bwMode="auto">
          <a:xfrm>
            <a:off x="990600" y="4876800"/>
            <a:ext cx="6978650" cy="1676400"/>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cstate="print"/>
          <a:srcRect/>
          <a:stretch>
            <a:fillRect/>
          </a:stretch>
        </p:blipFill>
        <p:spPr bwMode="auto">
          <a:xfrm>
            <a:off x="4648200" y="0"/>
            <a:ext cx="4495800" cy="46482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762001"/>
            <a:ext cx="7543800" cy="4247317"/>
          </a:xfrm>
          <a:prstGeom prst="rect">
            <a:avLst/>
          </a:prstGeom>
        </p:spPr>
        <p:txBody>
          <a:bodyPr wrap="square">
            <a:spAutoFit/>
          </a:bodyPr>
          <a:lstStyle/>
          <a:p>
            <a:r>
              <a:rPr lang="en-US" sz="2000" b="1" dirty="0" smtClean="0">
                <a:latin typeface="Times New Roman" pitchFamily="18" charset="0"/>
                <a:cs typeface="Times New Roman" pitchFamily="18" charset="0"/>
              </a:rPr>
              <a:t>CHALLENGES</a:t>
            </a:r>
            <a:endParaRPr lang="en-US" b="1" dirty="0" smtClean="0">
              <a:latin typeface="Times New Roman" pitchFamily="18" charset="0"/>
              <a:cs typeface="Times New Roman" pitchFamily="18" charset="0"/>
            </a:endParaRP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Data Imbalance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Some PPE classes (e.g., Gloves, Mask) had fewer samples than others, affecting recall.</a:t>
            </a: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2 Low-Light Detection</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Poor lighting and shadow regions caused misclassification.</a:t>
            </a: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3 False Positives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Occasional false “No Helmet” detections during motion blur.</a:t>
            </a: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4 Performance Optimization</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Balancing real-time FPS and accuracy required careful tuning (frame skip, FP16, batch size).</a:t>
            </a:r>
            <a:endParaRPr lang="en-US"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990600"/>
            <a:ext cx="8001000" cy="3170099"/>
          </a:xfrm>
          <a:prstGeom prst="rect">
            <a:avLst/>
          </a:prstGeom>
        </p:spPr>
        <p:txBody>
          <a:bodyPr wrap="square">
            <a:spAutoFit/>
          </a:bodyPr>
          <a:lstStyle/>
          <a:p>
            <a:r>
              <a:rPr lang="en-US" sz="2000" b="1" dirty="0" smtClean="0">
                <a:latin typeface="Times New Roman" pitchFamily="18" charset="0"/>
                <a:cs typeface="Times New Roman" pitchFamily="18" charset="0"/>
              </a:rPr>
              <a:t>FUTURE SCOPE</a:t>
            </a:r>
          </a:p>
          <a:p>
            <a:endParaRPr lang="en-US" b="1"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Expand dataset for rare PPE types (gloves, face shield).</a:t>
            </a:r>
          </a:p>
          <a:p>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Implement </a:t>
            </a:r>
            <a:r>
              <a:rPr lang="en-US" b="1" dirty="0" err="1" smtClean="0">
                <a:latin typeface="Times New Roman" pitchFamily="18" charset="0"/>
                <a:cs typeface="Times New Roman" pitchFamily="18" charset="0"/>
              </a:rPr>
              <a:t>Streamlit</a:t>
            </a:r>
            <a:r>
              <a:rPr lang="en-US" b="1" dirty="0" smtClean="0">
                <a:latin typeface="Times New Roman" pitchFamily="18" charset="0"/>
                <a:cs typeface="Times New Roman" pitchFamily="18" charset="0"/>
              </a:rPr>
              <a:t> Dashboard</a:t>
            </a:r>
            <a:r>
              <a:rPr lang="en-US" dirty="0" smtClean="0">
                <a:latin typeface="Times New Roman" pitchFamily="18" charset="0"/>
                <a:cs typeface="Times New Roman" pitchFamily="18" charset="0"/>
              </a:rPr>
              <a:t> for live analytics and reports.</a:t>
            </a: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Enable </a:t>
            </a:r>
            <a:r>
              <a:rPr lang="en-US" b="1" dirty="0" smtClean="0">
                <a:latin typeface="Times New Roman" pitchFamily="18" charset="0"/>
                <a:cs typeface="Times New Roman" pitchFamily="18" charset="0"/>
              </a:rPr>
              <a:t>Edge Deployment</a:t>
            </a:r>
            <a:r>
              <a:rPr lang="en-US" dirty="0" smtClean="0">
                <a:latin typeface="Times New Roman" pitchFamily="18" charset="0"/>
                <a:cs typeface="Times New Roman" pitchFamily="18" charset="0"/>
              </a:rPr>
              <a:t> on NVIDIA </a:t>
            </a:r>
            <a:r>
              <a:rPr lang="en-US" dirty="0" err="1" smtClean="0">
                <a:latin typeface="Times New Roman" pitchFamily="18" charset="0"/>
                <a:cs typeface="Times New Roman" pitchFamily="18" charset="0"/>
              </a:rPr>
              <a:t>Jetson</a:t>
            </a:r>
            <a:r>
              <a:rPr lang="en-US" dirty="0" smtClean="0">
                <a:latin typeface="Times New Roman" pitchFamily="18" charset="0"/>
                <a:cs typeface="Times New Roman" pitchFamily="18" charset="0"/>
              </a:rPr>
              <a:t> / Raspberry Pi.</a:t>
            </a: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Introduce </a:t>
            </a:r>
            <a:r>
              <a:rPr lang="en-US" b="1" dirty="0" smtClean="0">
                <a:latin typeface="Times New Roman" pitchFamily="18" charset="0"/>
                <a:cs typeface="Times New Roman" pitchFamily="18" charset="0"/>
              </a:rPr>
              <a:t>Worker Re-Identification (Re-ID)</a:t>
            </a:r>
            <a:r>
              <a:rPr lang="en-US" dirty="0" smtClean="0">
                <a:latin typeface="Times New Roman" pitchFamily="18" charset="0"/>
                <a:cs typeface="Times New Roman" pitchFamily="18" charset="0"/>
              </a:rPr>
              <a:t> for long-term tracking.</a:t>
            </a: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Add </a:t>
            </a:r>
            <a:r>
              <a:rPr lang="en-US" b="1" dirty="0" smtClean="0">
                <a:latin typeface="Times New Roman" pitchFamily="18" charset="0"/>
                <a:cs typeface="Times New Roman" pitchFamily="18" charset="0"/>
              </a:rPr>
              <a:t>Cloud Alert Integration</a:t>
            </a:r>
            <a:r>
              <a:rPr lang="en-US" dirty="0" smtClean="0">
                <a:latin typeface="Times New Roman" pitchFamily="18" charset="0"/>
                <a:cs typeface="Times New Roman" pitchFamily="18" charset="0"/>
              </a:rPr>
              <a:t> for centralized safety monitoring.</a:t>
            </a:r>
            <a:endParaRPr lang="en-US"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066800"/>
            <a:ext cx="7315200" cy="3246299"/>
          </a:xfrm>
          <a:prstGeom prst="rect">
            <a:avLst/>
          </a:prstGeom>
        </p:spPr>
        <p:txBody>
          <a:bodyPr wrap="square">
            <a:spAutoFit/>
          </a:bodyPr>
          <a:lstStyle/>
          <a:p>
            <a:r>
              <a:rPr lang="en-US" sz="2000" b="1" dirty="0" smtClean="0">
                <a:latin typeface="Times New Roman" pitchFamily="18" charset="0"/>
                <a:cs typeface="Times New Roman" pitchFamily="18" charset="0"/>
              </a:rPr>
              <a:t>CONCLUSION</a:t>
            </a:r>
          </a:p>
          <a:p>
            <a:endParaRPr lang="en-US" b="1"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a:t>
            </a:r>
            <a:r>
              <a:rPr lang="en-US" b="1" dirty="0" err="1" smtClean="0">
                <a:latin typeface="Times New Roman" pitchFamily="18" charset="0"/>
                <a:cs typeface="Times New Roman" pitchFamily="18" charset="0"/>
              </a:rPr>
              <a:t>SafetyEye</a:t>
            </a:r>
            <a:r>
              <a:rPr lang="en-US" b="1" dirty="0" smtClean="0">
                <a:latin typeface="Times New Roman" pitchFamily="18" charset="0"/>
                <a:cs typeface="Times New Roman" pitchFamily="18" charset="0"/>
              </a:rPr>
              <a:t> Project</a:t>
            </a:r>
            <a:r>
              <a:rPr lang="en-US" dirty="0" smtClean="0">
                <a:latin typeface="Times New Roman" pitchFamily="18" charset="0"/>
                <a:cs typeface="Times New Roman" pitchFamily="18" charset="0"/>
              </a:rPr>
              <a:t> successfully demonstrates the potential of </a:t>
            </a:r>
            <a:r>
              <a:rPr lang="en-US" b="1" dirty="0" smtClean="0">
                <a:latin typeface="Times New Roman" pitchFamily="18" charset="0"/>
                <a:cs typeface="Times New Roman" pitchFamily="18" charset="0"/>
              </a:rPr>
              <a:t>deep learning-based vision systems</a:t>
            </a:r>
            <a:r>
              <a:rPr lang="en-US" dirty="0" smtClean="0">
                <a:latin typeface="Times New Roman" pitchFamily="18" charset="0"/>
                <a:cs typeface="Times New Roman" pitchFamily="18" charset="0"/>
              </a:rPr>
              <a:t> in enforcing workplace safety standards.</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Through the integration of </a:t>
            </a:r>
            <a:r>
              <a:rPr lang="en-US" b="1" dirty="0" smtClean="0">
                <a:latin typeface="Times New Roman" pitchFamily="18" charset="0"/>
                <a:cs typeface="Times New Roman" pitchFamily="18" charset="0"/>
              </a:rPr>
              <a:t>YOLOv8 detection</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rule-based violation analysis</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alert-driven automation</a:t>
            </a:r>
            <a:r>
              <a:rPr lang="en-US" dirty="0" smtClean="0">
                <a:latin typeface="Times New Roman" pitchFamily="18" charset="0"/>
                <a:cs typeface="Times New Roman" pitchFamily="18" charset="0"/>
              </a:rPr>
              <a:t>, the system provides:</a:t>
            </a:r>
          </a:p>
          <a:p>
            <a:endParaRPr lang="en-US" dirty="0" smtClean="0">
              <a:latin typeface="Times New Roman" pitchFamily="18" charset="0"/>
              <a:cs typeface="Times New Roman" pitchFamily="18" charset="0"/>
            </a:endParaRPr>
          </a:p>
          <a:p>
            <a:pPr>
              <a:buFont typeface="Wingdings" pitchFamily="2" charset="2"/>
              <a:buChar char="ü"/>
            </a:pPr>
            <a:r>
              <a:rPr lang="en-US" dirty="0" smtClean="0">
                <a:latin typeface="Times New Roman" pitchFamily="18" charset="0"/>
                <a:cs typeface="Times New Roman" pitchFamily="18" charset="0"/>
              </a:rPr>
              <a:t> Real-time PPE detection and compliance verification</a:t>
            </a:r>
          </a:p>
          <a:p>
            <a:pPr>
              <a:buFont typeface="Wingdings" pitchFamily="2" charset="2"/>
              <a:buChar char="ü"/>
            </a:pPr>
            <a:r>
              <a:rPr lang="en-US" dirty="0" smtClean="0">
                <a:latin typeface="Times New Roman" pitchFamily="18" charset="0"/>
                <a:cs typeface="Times New Roman" pitchFamily="18" charset="0"/>
              </a:rPr>
              <a:t> Automated violation alerts and video evidence logging</a:t>
            </a:r>
          </a:p>
          <a:p>
            <a:pPr>
              <a:buFont typeface="Wingdings" pitchFamily="2" charset="2"/>
              <a:buChar char="ü"/>
            </a:pPr>
            <a:r>
              <a:rPr lang="en-US" dirty="0" smtClean="0">
                <a:latin typeface="Times New Roman" pitchFamily="18" charset="0"/>
                <a:cs typeface="Times New Roman" pitchFamily="18" charset="0"/>
              </a:rPr>
              <a:t> Reliable performance under diverse conditions</a:t>
            </a:r>
          </a:p>
          <a:p>
            <a:pPr>
              <a:buFont typeface="Wingdings" pitchFamily="2" charset="2"/>
              <a:buChar char="ü"/>
            </a:pPr>
            <a:r>
              <a:rPr lang="en-US" dirty="0" smtClean="0">
                <a:latin typeface="Times New Roman" pitchFamily="18" charset="0"/>
                <a:cs typeface="Times New Roman" pitchFamily="18" charset="0"/>
              </a:rPr>
              <a:t> Foundation for industrial-grade AI safety solutions</a:t>
            </a:r>
            <a:endParaRPr lang="en-US"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8200" y="1369874"/>
            <a:ext cx="7391400" cy="3170099"/>
          </a:xfrm>
          <a:prstGeom prst="rect">
            <a:avLst/>
          </a:prstGeom>
        </p:spPr>
        <p:txBody>
          <a:bodyPr wrap="square">
            <a:spAutoFit/>
          </a:bodyPr>
          <a:lstStyle/>
          <a:p>
            <a:r>
              <a:rPr lang="en-US" sz="2000" b="1" dirty="0" smtClean="0">
                <a:latin typeface="Times New Roman" pitchFamily="18" charset="0"/>
                <a:cs typeface="Times New Roman" pitchFamily="18" charset="0"/>
              </a:rPr>
              <a:t>ACKNOWLEDGMENT</a:t>
            </a: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Infosys Springboard Internship (Oct–Nov 2025)</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Student:</a:t>
            </a:r>
            <a:r>
              <a:rPr lang="en-US" dirty="0" smtClean="0">
                <a:latin typeface="Times New Roman" pitchFamily="18" charset="0"/>
                <a:cs typeface="Times New Roman" pitchFamily="18" charset="0"/>
              </a:rPr>
              <a:t> Uppalapati Venkata Ashok Adithya</a:t>
            </a:r>
            <a:br>
              <a:rPr lang="en-US" dirty="0" smtClean="0">
                <a:latin typeface="Times New Roman" pitchFamily="18" charset="0"/>
                <a:cs typeface="Times New Roman" pitchFamily="18" charset="0"/>
              </a:rPr>
            </a:b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Project: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SafetyEye</a:t>
            </a:r>
            <a:r>
              <a:rPr lang="en-US" dirty="0" smtClean="0">
                <a:latin typeface="Times New Roman" pitchFamily="18" charset="0"/>
                <a:cs typeface="Times New Roman" pitchFamily="18" charset="0"/>
              </a:rPr>
              <a:t> – AI-Powered Workplace Occupancy &amp; Safety Monitor</a:t>
            </a:r>
            <a:br>
              <a:rPr lang="en-US" dirty="0" smtClean="0">
                <a:latin typeface="Times New Roman" pitchFamily="18" charset="0"/>
                <a:cs typeface="Times New Roman" pitchFamily="18" charset="0"/>
              </a:rPr>
            </a:b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Tools:</a:t>
            </a:r>
            <a:r>
              <a:rPr lang="en-US" dirty="0" smtClean="0">
                <a:latin typeface="Times New Roman" pitchFamily="18" charset="0"/>
                <a:cs typeface="Times New Roman" pitchFamily="18" charset="0"/>
              </a:rPr>
              <a:t> Python, </a:t>
            </a:r>
            <a:r>
              <a:rPr lang="en-US" dirty="0" err="1" smtClean="0">
                <a:latin typeface="Times New Roman" pitchFamily="18" charset="0"/>
                <a:cs typeface="Times New Roman" pitchFamily="18" charset="0"/>
              </a:rPr>
              <a:t>PyTorch</a:t>
            </a:r>
            <a:r>
              <a:rPr lang="en-US" dirty="0" smtClean="0">
                <a:latin typeface="Times New Roman" pitchFamily="18" charset="0"/>
                <a:cs typeface="Times New Roman" pitchFamily="18" charset="0"/>
              </a:rPr>
              <a:t>, YOLOv8, </a:t>
            </a:r>
            <a:r>
              <a:rPr lang="en-US" dirty="0" err="1" smtClean="0">
                <a:latin typeface="Times New Roman" pitchFamily="18" charset="0"/>
                <a:cs typeface="Times New Roman" pitchFamily="18" charset="0"/>
              </a:rPr>
              <a:t>OpenCV</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Streamlit</a:t>
            </a:r>
            <a:r>
              <a:rPr lang="en-US" dirty="0" smtClean="0">
                <a:latin typeface="Times New Roman" pitchFamily="18" charset="0"/>
                <a:cs typeface="Times New Roman" pitchFamily="18" charset="0"/>
              </a:rPr>
              <a:t>, Pandas, </a:t>
            </a:r>
            <a:r>
              <a:rPr lang="en-US" dirty="0" err="1" smtClean="0">
                <a:latin typeface="Times New Roman" pitchFamily="18" charset="0"/>
                <a:cs typeface="Times New Roman" pitchFamily="18" charset="0"/>
              </a:rPr>
              <a:t>NumPy</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Domain:</a:t>
            </a:r>
            <a:r>
              <a:rPr lang="en-US" dirty="0" smtClean="0">
                <a:latin typeface="Times New Roman" pitchFamily="18" charset="0"/>
                <a:cs typeface="Times New Roman" pitchFamily="18" charset="0"/>
              </a:rPr>
              <a:t> Computer Vision &amp; Deep Learning</a:t>
            </a:r>
            <a:endParaRPr lang="en-US"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TotalTime>
  <Words>984</Words>
  <Application>Microsoft Office PowerPoint</Application>
  <PresentationFormat>On-screen Show (4:3)</PresentationFormat>
  <Paragraphs>231</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UPPALAPATI VENKATA ASHOK ADITHYA</dc:creator>
  <cp:lastModifiedBy>UPPALAPATI VENKATA ASHOK ADITHYA</cp:lastModifiedBy>
  <cp:revision>32</cp:revision>
  <dcterms:created xsi:type="dcterms:W3CDTF">2025-11-19T03:31:15Z</dcterms:created>
  <dcterms:modified xsi:type="dcterms:W3CDTF">2025-11-25T14:09:24Z</dcterms:modified>
</cp:coreProperties>
</file>